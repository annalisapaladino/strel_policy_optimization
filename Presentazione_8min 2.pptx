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323" r:id="rId6"/>
    <p:sldId id="269" r:id="rId7"/>
    <p:sldId id="307" r:id="rId8"/>
    <p:sldId id="272" r:id="rId9"/>
    <p:sldId id="276" r:id="rId10"/>
    <p:sldId id="277" r:id="rId11"/>
    <p:sldId id="278" r:id="rId12"/>
    <p:sldId id="275" r:id="rId13"/>
    <p:sldId id="280" r:id="rId14"/>
    <p:sldId id="338" r:id="rId15"/>
    <p:sldId id="339" r:id="rId16"/>
    <p:sldId id="342" r:id="rId17"/>
    <p:sldId id="344" r:id="rId18"/>
    <p:sldId id="345" r:id="rId19"/>
    <p:sldId id="346" r:id="rId20"/>
    <p:sldId id="296" r:id="rId21"/>
    <p:sldId id="302" r:id="rId22"/>
    <p:sldId id="303" r:id="rId23"/>
    <p:sldId id="347" r:id="rId24"/>
    <p:sldId id="268" r:id="rId2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3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3489F2-A7A0-4E49-B0A4-3CE528D8F930}" v="413" dt="2026-03-26T08:05:21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47"/>
    <p:restoredTop sz="94677"/>
  </p:normalViewPr>
  <p:slideViewPr>
    <p:cSldViewPr snapToGrid="0">
      <p:cViewPr varScale="1">
        <p:scale>
          <a:sx n="87" d="100"/>
          <a:sy n="87" d="100"/>
        </p:scale>
        <p:origin x="23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33197-7949-BF4B-AAFF-65396F8DE780}" type="datetimeFigureOut">
              <a:rPr lang="it-IT" smtClean="0"/>
              <a:t>24/03/26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6A040-0B36-DC49-BEA8-3F549EA489D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6542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Abbiamo uno scenario con più agenti, così avremo variabili continue e variabili categoriche come tipo di agenti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7F3A4-E6CF-1F4B-A144-6F22844371F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5527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Facciamo task </a:t>
            </a:r>
            <a:r>
              <a:rPr lang="it-IT" dirty="0" err="1"/>
              <a:t>specification</a:t>
            </a:r>
            <a:r>
              <a:rPr lang="it-IT" dirty="0"/>
              <a:t> tramite CSTREL e questa task </a:t>
            </a:r>
            <a:r>
              <a:rPr lang="it-IT" dirty="0" err="1"/>
              <a:t>specification</a:t>
            </a:r>
            <a:r>
              <a:rPr lang="it-IT" dirty="0"/>
              <a:t> diventa la funzione </a:t>
            </a:r>
            <a:r>
              <a:rPr lang="it-IT" dirty="0" err="1"/>
              <a:t>obbietivo</a:t>
            </a:r>
            <a:r>
              <a:rPr lang="it-IT" dirty="0"/>
              <a:t> per fare policy </a:t>
            </a:r>
            <a:r>
              <a:rPr lang="it-IT" dirty="0" err="1"/>
              <a:t>optimization</a:t>
            </a:r>
            <a:r>
              <a:rPr lang="it-IT" dirty="0"/>
              <a:t> (specifica che usiamo la semantica quantitativa)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7F3A4-E6CF-1F4B-A144-6F22844371F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6020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0" i="0" dirty="0">
                <a:solidFill>
                  <a:schemeClr val="accent2"/>
                </a:solidFill>
                <a:effectLst/>
                <a:latin typeface="Helvetica" pitchFamily="2" charset="0"/>
              </a:rPr>
              <a:t>The </a:t>
            </a:r>
            <a:r>
              <a:rPr lang="it-IT" sz="1200" b="0" i="0" dirty="0" err="1">
                <a:solidFill>
                  <a:schemeClr val="accent2"/>
                </a:solidFill>
                <a:effectLst/>
                <a:latin typeface="Helvetica" pitchFamily="2" charset="0"/>
              </a:rPr>
              <a:t>loss</a:t>
            </a:r>
            <a:r>
              <a:rPr lang="it-IT" sz="1200" b="0" i="0" dirty="0">
                <a:solidFill>
                  <a:schemeClr val="accent2"/>
                </a:solidFill>
                <a:effectLst/>
                <a:latin typeface="Helvetica" pitchFamily="2" charset="0"/>
              </a:rPr>
              <a:t> </a:t>
            </a:r>
            <a:r>
              <a:rPr lang="it-IT" sz="1200" b="0" i="0" dirty="0" err="1">
                <a:solidFill>
                  <a:schemeClr val="accent2"/>
                </a:solidFill>
                <a:effectLst/>
                <a:latin typeface="Helvetica" pitchFamily="2" charset="0"/>
              </a:rPr>
              <a:t>is</a:t>
            </a:r>
            <a:r>
              <a:rPr lang="it-IT" sz="1200" b="0" i="0" dirty="0">
                <a:solidFill>
                  <a:schemeClr val="accent2"/>
                </a:solidFill>
                <a:effectLst/>
                <a:latin typeface="Helvetica" pitchFamily="2" charset="0"/>
              </a:rPr>
              <a:t> </a:t>
            </a:r>
            <a:r>
              <a:rPr lang="it-IT" sz="1200" b="0" i="0" dirty="0" err="1">
                <a:solidFill>
                  <a:schemeClr val="accent2"/>
                </a:solidFill>
                <a:effectLst/>
                <a:latin typeface="Helvetica" pitchFamily="2" charset="0"/>
              </a:rPr>
              <a:t>driven</a:t>
            </a:r>
            <a:r>
              <a:rPr lang="it-IT" sz="1200" b="0" i="0" dirty="0">
                <a:solidFill>
                  <a:schemeClr val="accent2"/>
                </a:solidFill>
                <a:effectLst/>
                <a:latin typeface="Helvetica" pitchFamily="2" charset="0"/>
              </a:rPr>
              <a:t> by the </a:t>
            </a:r>
            <a:r>
              <a:rPr lang="it-IT" sz="1200" b="1" i="0" dirty="0" err="1">
                <a:solidFill>
                  <a:schemeClr val="accent2"/>
                </a:solidFill>
                <a:effectLst/>
                <a:latin typeface="Helvetica" pitchFamily="2" charset="0"/>
              </a:rPr>
              <a:t>worst-performing</a:t>
            </a:r>
            <a:r>
              <a:rPr lang="it-IT" sz="1200" b="0" i="0" dirty="0">
                <a:solidFill>
                  <a:schemeClr val="accent2"/>
                </a:solidFill>
                <a:effectLst/>
                <a:latin typeface="Helvetica" pitchFamily="2" charset="0"/>
              </a:rPr>
              <a:t> agent </a:t>
            </a:r>
            <a:r>
              <a:rPr lang="it-IT" sz="1200" b="0" i="0" dirty="0" err="1">
                <a:solidFill>
                  <a:schemeClr val="accent2"/>
                </a:solidFill>
                <a:effectLst/>
                <a:latin typeface="Helvetica" pitchFamily="2" charset="0"/>
              </a:rPr>
              <a:t>at</a:t>
            </a:r>
            <a:r>
              <a:rPr lang="it-IT" sz="1200" b="0" i="0" dirty="0">
                <a:solidFill>
                  <a:schemeClr val="accent2"/>
                </a:solidFill>
                <a:effectLst/>
                <a:latin typeface="Helvetica" pitchFamily="2" charset="0"/>
              </a:rPr>
              <a:t> </a:t>
            </a:r>
            <a:r>
              <a:rPr lang="it-IT" sz="1200" b="0" i="0" dirty="0" err="1">
                <a:solidFill>
                  <a:schemeClr val="accent2"/>
                </a:solidFill>
                <a:effectLst/>
                <a:latin typeface="Helvetica" pitchFamily="2" charset="0"/>
              </a:rPr>
              <a:t>each</a:t>
            </a:r>
            <a:r>
              <a:rPr lang="it-IT" sz="1200" b="0" i="0" dirty="0">
                <a:solidFill>
                  <a:schemeClr val="accent2"/>
                </a:solidFill>
                <a:effectLst/>
                <a:latin typeface="Helvetica" pitchFamily="2" charset="0"/>
              </a:rPr>
              <a:t> time </a:t>
            </a:r>
            <a:r>
              <a:rPr lang="it-IT" sz="1200" dirty="0">
                <a:solidFill>
                  <a:schemeClr val="accent2"/>
                </a:solidFill>
              </a:rPr>
              <a:t>step; the </a:t>
            </a:r>
            <a:r>
              <a:rPr lang="it-IT" sz="1200" dirty="0" err="1">
                <a:solidFill>
                  <a:schemeClr val="accent2"/>
                </a:solidFill>
              </a:rPr>
              <a:t>temporal</a:t>
            </a:r>
            <a:r>
              <a:rPr lang="it-IT" sz="1200" dirty="0">
                <a:solidFill>
                  <a:schemeClr val="accent2"/>
                </a:solidFill>
              </a:rPr>
              <a:t> </a:t>
            </a:r>
            <a:r>
              <a:rPr lang="it-IT" sz="1200" dirty="0" err="1">
                <a:solidFill>
                  <a:schemeClr val="accent2"/>
                </a:solidFill>
              </a:rPr>
              <a:t>average</a:t>
            </a:r>
            <a:r>
              <a:rPr lang="it-IT" sz="1200" dirty="0">
                <a:solidFill>
                  <a:schemeClr val="accent2"/>
                </a:solidFill>
              </a:rPr>
              <a:t> </a:t>
            </a:r>
            <a:r>
              <a:rPr lang="it-IT" sz="1200" dirty="0" err="1">
                <a:solidFill>
                  <a:schemeClr val="accent2"/>
                </a:solidFill>
              </a:rPr>
              <a:t>then</a:t>
            </a:r>
            <a:r>
              <a:rPr lang="it-IT" sz="1200" dirty="0">
                <a:solidFill>
                  <a:schemeClr val="accent2"/>
                </a:solidFill>
              </a:rPr>
              <a:t> </a:t>
            </a:r>
            <a:r>
              <a:rPr lang="it-IT" sz="1200" dirty="0" err="1">
                <a:solidFill>
                  <a:schemeClr val="accent2"/>
                </a:solidFill>
              </a:rPr>
              <a:t>encourages</a:t>
            </a:r>
            <a:r>
              <a:rPr lang="it-IT" sz="1200" dirty="0">
                <a:solidFill>
                  <a:schemeClr val="accent2"/>
                </a:solidFill>
              </a:rPr>
              <a:t> </a:t>
            </a:r>
            <a:r>
              <a:rPr lang="it-IT" sz="1200" dirty="0" err="1">
                <a:solidFill>
                  <a:schemeClr val="accent2"/>
                </a:solidFill>
              </a:rPr>
              <a:t>robust</a:t>
            </a:r>
            <a:r>
              <a:rPr lang="it-IT" sz="1200" dirty="0">
                <a:solidFill>
                  <a:schemeClr val="accent2"/>
                </a:solidFill>
              </a:rPr>
              <a:t> </a:t>
            </a:r>
            <a:r>
              <a:rPr lang="it-IT" sz="1200" dirty="0" err="1">
                <a:solidFill>
                  <a:schemeClr val="accent2"/>
                </a:solidFill>
              </a:rPr>
              <a:t>behavior</a:t>
            </a:r>
            <a:r>
              <a:rPr lang="it-IT" sz="1200" dirty="0">
                <a:solidFill>
                  <a:schemeClr val="accent2"/>
                </a:solidFill>
              </a:rPr>
              <a:t> </a:t>
            </a:r>
            <a:r>
              <a:rPr lang="it-IT" sz="1200" dirty="0" err="1">
                <a:solidFill>
                  <a:schemeClr val="accent2"/>
                </a:solidFill>
              </a:rPr>
              <a:t>throughout</a:t>
            </a:r>
            <a:r>
              <a:rPr lang="it-IT" sz="1200" dirty="0">
                <a:solidFill>
                  <a:schemeClr val="accent2"/>
                </a:solidFill>
              </a:rPr>
              <a:t> the </a:t>
            </a:r>
            <a:r>
              <a:rPr lang="it-IT" sz="1200" dirty="0" err="1">
                <a:solidFill>
                  <a:schemeClr val="accent2"/>
                </a:solidFill>
              </a:rPr>
              <a:t>whole</a:t>
            </a:r>
            <a:r>
              <a:rPr lang="it-IT" sz="1200" dirty="0">
                <a:solidFill>
                  <a:schemeClr val="accent2"/>
                </a:solidFill>
              </a:rPr>
              <a:t> </a:t>
            </a:r>
            <a:r>
              <a:rPr lang="it-IT" sz="1200" dirty="0" err="1">
                <a:solidFill>
                  <a:schemeClr val="accent2"/>
                </a:solidFill>
              </a:rPr>
              <a:t>trajectory</a:t>
            </a:r>
            <a:endParaRPr lang="it-IT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7F3A4-E6CF-1F4B-A144-6F22844371F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646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/>
              <a:t>Dynamics Model: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time step, the policy </a:t>
            </a:r>
            <a:r>
              <a:rPr lang="it-IT" dirty="0" err="1"/>
              <a:t>produces</a:t>
            </a:r>
            <a:r>
              <a:rPr lang="it-IT" dirty="0"/>
              <a:t> a </a:t>
            </a:r>
            <a:r>
              <a:rPr lang="it-IT" dirty="0" err="1"/>
              <a:t>two-dimensional</a:t>
            </a:r>
            <a:r>
              <a:rPr lang="it-IT" dirty="0"/>
              <a:t> action for </a:t>
            </a:r>
            <a:r>
              <a:rPr lang="it-IT" dirty="0" err="1"/>
              <a:t>each</a:t>
            </a:r>
            <a:r>
              <a:rPr lang="it-IT" dirty="0"/>
              <a:t> drone. </a:t>
            </a:r>
            <a:r>
              <a:rPr lang="it-IT" dirty="0" err="1"/>
              <a:t>This</a:t>
            </a:r>
            <a:r>
              <a:rPr lang="it-IT" dirty="0"/>
              <a:t> action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combined</a:t>
            </a:r>
            <a:r>
              <a:rPr lang="it-IT" dirty="0"/>
              <a:t> with the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velocity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a </a:t>
            </a:r>
            <a:r>
              <a:rPr lang="it-IT" dirty="0" err="1"/>
              <a:t>momentum</a:t>
            </a:r>
            <a:r>
              <a:rPr lang="it-IT" dirty="0"/>
              <a:t> </a:t>
            </a:r>
            <a:r>
              <a:rPr lang="it-IT" dirty="0" err="1"/>
              <a:t>term</a:t>
            </a:r>
            <a:r>
              <a:rPr lang="it-IT" dirty="0"/>
              <a:t> and </a:t>
            </a:r>
            <a:r>
              <a:rPr lang="it-IT" dirty="0" err="1"/>
              <a:t>then</a:t>
            </a:r>
            <a:r>
              <a:rPr lang="it-IT" dirty="0"/>
              <a:t> the position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updated</a:t>
            </a:r>
            <a:r>
              <a:rPr lang="it-IT" dirty="0"/>
              <a:t> </a:t>
            </a:r>
            <a:r>
              <a:rPr lang="it-IT" dirty="0" err="1"/>
              <a:t>according</a:t>
            </a:r>
            <a:r>
              <a:rPr lang="it-IT" dirty="0"/>
              <a:t> to the new </a:t>
            </a:r>
            <a:r>
              <a:rPr lang="it-IT" dirty="0" err="1"/>
              <a:t>velocity</a:t>
            </a:r>
            <a:endParaRPr lang="it-I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Ricorda di dire che ho una policy comune per tutti gli agenti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7F3A4-E6CF-1F4B-A144-6F22844371F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7772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83B25-279A-7A33-4D0E-AE1745758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93272B9-14A6-7B6B-67EB-AC6EC997A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3D858D1-C809-700C-25E7-7D89759EB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B5F6D5-3E57-FE8C-09E9-0B603BDE2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7F3A4-E6CF-1F4B-A144-6F22844371F9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0952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6A55-3896-0071-7E23-D055A7700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CDF69E5-F147-1736-69E4-BB1430A77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111ADDD-B256-561A-3D53-0B40DF6DA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Usa le parole chiavi, leggi proprio come leggeresti la formula, se batteria è alta succederà che ad un certo punto il drone raggiungerà il target rimanendo vivo. </a:t>
            </a:r>
          </a:p>
          <a:p>
            <a:endParaRPr lang="it-IT" dirty="0"/>
          </a:p>
          <a:p>
            <a:r>
              <a:rPr lang="it-IT" dirty="0"/>
              <a:t>Specifica che queste formule sono molto semplici da leggere però la logica formale è in grado di imporre le proprietà desiderate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08AF4C-5D0F-DDF3-CC70-144172C8E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7F3A4-E6CF-1F4B-A144-6F22844371F9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7714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CC870-AEF3-68B8-2FFD-D9896280B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5743E2-1766-C361-223C-F177FB254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DB817F-7CEE-3EEC-AC0A-A3BF89DC9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Quando la batteria è bassa imponiamo che ad un certo punto raggiunga una base di ricarica libera </a:t>
            </a:r>
            <a:r>
              <a:rPr lang="it-IT" dirty="0" err="1"/>
              <a:t>finchè</a:t>
            </a:r>
            <a:r>
              <a:rPr lang="it-IT" dirty="0"/>
              <a:t> la batteria è carica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70A21E0-8A1A-3C11-3DF5-033468C3C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7F3A4-E6CF-1F4B-A144-6F22844371F9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3673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3A5D-0F32-E1CA-87F2-DDBEF8AC8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44F3C1E-FBD2-265D-DA66-9A8958BBB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22C6B80-5605-8180-EE7F-55B08A7A2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16326F-C8DA-948A-6972-D11F0520B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7F3A4-E6CF-1F4B-A144-6F22844371F9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9257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CC399-3D67-245B-C612-30A8B8F7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14CD72D-2C12-8753-DC1F-92E6EB1B4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51DB0CA-7320-E597-B916-8D9A9E2A6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CC6642-9ACA-30ED-BDA8-45FF07A48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7F3A4-E6CF-1F4B-A144-6F22844371F9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593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Non commentare la batteria, dici per </a:t>
            </a:r>
            <a:r>
              <a:rPr lang="it-IT" dirty="0" err="1"/>
              <a:t>worst</a:t>
            </a:r>
            <a:r>
              <a:rPr lang="it-IT" dirty="0"/>
              <a:t> dici che hanno difficoltà a sincronizzarsi ma che il task ciò nonostante funziona bene e viene completato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6A040-0B36-DC49-BEA8-3F549EA489D1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8103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Qua velocissima, parla solo della robustezza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6A040-0B36-DC49-BEA8-3F549EA489D1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3608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over time specifica bene che è over the </a:t>
            </a:r>
            <a:r>
              <a:rPr lang="it-IT" dirty="0" err="1"/>
              <a:t>trajectory</a:t>
            </a:r>
            <a:r>
              <a:rPr lang="it-IT" dirty="0"/>
              <a:t>, al posto di essere training </a:t>
            </a:r>
            <a:r>
              <a:rPr lang="it-IT" dirty="0" err="1"/>
              <a:t>iteration</a:t>
            </a:r>
            <a:r>
              <a:rPr lang="it-IT" dirty="0"/>
              <a:t> sono istanti della traiettoria</a:t>
            </a:r>
          </a:p>
          <a:p>
            <a:r>
              <a:rPr lang="it-IT" dirty="0"/>
              <a:t>All’inizio essendo inizializzati random c’è un momento di coordinamento e per questo c’è una lieve negatività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6A040-0B36-DC49-BEA8-3F549EA489D1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1237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5E2AFE-1C25-9E4C-C476-D30EEA54B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932FFD9-6A76-8CA7-3FE4-50CB27038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168B41-F991-5A43-A2B8-DAE453CC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7C8E9-0152-9A4C-B96E-08C7DD8E70EA}" type="datetime1">
              <a:rPr lang="it-IT" smtClean="0"/>
              <a:t>24/03/26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CC262D-9FDD-BBB5-E120-3C4D5588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FADC87-76D9-F220-28CB-DB4B9C9F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8230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979054-4086-2385-CA15-E296BAAE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EE6CB-3F47-15E2-83D2-97C844967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FEE2B2-6199-C6F5-C0AE-60C25B19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F134D-DE6B-F646-93BD-E12E3D59A30F}" type="datetime1">
              <a:rPr lang="it-IT" smtClean="0"/>
              <a:t>24/03/26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6096F5E-6978-37DB-F89F-9DFCACB4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EE3768-9AED-B4C2-DB79-33C2BCB3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468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1CB2F3-37D2-C1AB-8989-8EF33824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6A7C3D-B0D2-076A-77EC-FA841845D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B26999-9BED-345A-E2B4-A2652B9C8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13E51-E928-F74C-8B65-1B9AD71BF3B3}" type="datetime1">
              <a:rPr lang="it-IT" smtClean="0"/>
              <a:t>24/03/26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2D1E80-F34C-6A73-2C5D-9E3451C62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D4034A6-2019-B9A2-1384-2F30C38F8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285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94BE90-3786-BC27-6FD2-1214C4DA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B717BF-2139-6BB8-5D12-849A1EC6A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C0CF206-CD79-44A1-36AC-076D28DDC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FE9EF8-ADF1-9BFE-A206-C1A817A1E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578F-EA12-5744-BBCA-DE36FD287D5A}" type="datetime1">
              <a:rPr lang="it-IT" smtClean="0"/>
              <a:t>24/03/26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7D2B1F7-C091-863A-D329-175EE5C5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46088AA-380C-D529-F2AE-7BD903DA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916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4470E6-926F-F608-C96E-4725E6E54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27F8353-F2AC-85A8-23EF-55FFDB219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2C59BF2-5627-B756-36E6-8936F4328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9548459-BD3B-7EE3-AAEE-738F23A90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CFA5BB1-CA0B-8201-32B9-2A9A18F3E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04BD51B-30F8-8F58-2711-C2A05A614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7A24-8A53-E543-9B2B-361668CF5A38}" type="datetime1">
              <a:rPr lang="it-IT" smtClean="0"/>
              <a:t>24/03/26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A4CC9E8-1B70-6261-EDC4-9FC93C9A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B0F2BB1-4269-F74E-7987-E4B7BFFC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783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CE3989-62D8-05D5-8337-7E83B054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113FC86-E813-A5F0-EDC1-7DC4AAC7E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70CDB-3D9F-9640-BCB8-804F8F425110}" type="datetime1">
              <a:rPr lang="it-IT" smtClean="0"/>
              <a:t>24/03/26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7CFA9D3-3C2A-D097-D599-18CCA10A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EFE2724-3EF9-5486-4EFB-7FAE818C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865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A77FC56-0DAF-5F83-93F5-8A471D1E7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A095-7B34-094C-9711-DC02BCFF1C1A}" type="datetime1">
              <a:rPr lang="it-IT" smtClean="0"/>
              <a:t>24/03/26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0D17F26-9909-9959-1177-0F3CD1AC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08D0E8-FD06-029C-1208-A7CF280A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0872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AB85B9-0EB7-4EA9-CC3C-317F4C857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85609C-BDE4-1C73-15F5-FCD41F675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47B2326-3853-6480-AC89-E3B81BD1C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24DDC96-2A30-35D5-341A-90340B66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C0AC6-A5DA-BE45-8250-22F2BB783EFC}" type="datetime1">
              <a:rPr lang="it-IT" smtClean="0"/>
              <a:t>24/03/26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C4DBE1E-C01D-7E2E-FEE4-AD9DF344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80A33CA-E104-863A-DA31-15BD50C8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8154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7B9347-6BE8-C6B2-9853-AF484269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6C19C94-E2B9-B86D-6C81-FC0097014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7E2FD70-5002-67B2-E93E-18F9CE3F6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BDDE168-82BC-3076-9BE3-6FF183ED2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623F-8AF5-2145-9F38-DB2AC0B89F26}" type="datetime1">
              <a:rPr lang="it-IT" smtClean="0"/>
              <a:t>24/03/26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C85A8EE-44C0-82AC-DBAC-C5BA19752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EBA282D-DAA9-8CA9-6E85-3726C650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192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8D4FED-787F-F5F7-5339-8E8C59AD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BE68131-7C23-7596-021A-A48E10C35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7DB119-8622-69E2-9523-5F708668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B5962-5919-0F44-89A8-5D59DB4E79C6}" type="datetime1">
              <a:rPr lang="it-IT" smtClean="0"/>
              <a:t>24/03/26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0F14843-2C93-5052-6261-B35A149C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A0BC59-B730-4740-4982-92302628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414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76B9EC2-274F-14F5-3C55-473DB2D05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9031C7D-A793-3CAD-FD0E-CA28C8578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75DFE9-25FF-9821-F76F-8F0EBB275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67A6-9F78-6E4B-93EA-4677D3275243}" type="datetime1">
              <a:rPr lang="it-IT" smtClean="0"/>
              <a:t>24/03/26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3BF38E-1DA7-2334-CF8B-5EA60214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2FF90B1-71AB-EBED-E941-6A32584D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38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98284E6-828E-B77F-1EDA-C05A8592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6E11AF-73BE-09CE-9A52-7301C9F39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B8DABD-6DD1-C8BD-8553-2F82315F1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D1033-4E8F-3B43-8D83-46284EE897C7}" type="datetime1">
              <a:rPr lang="it-IT" smtClean="0"/>
              <a:t>24/03/26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D76E78-71E2-9539-B40D-E3BDB7591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20DDC8-A4CA-868E-3137-7B8BD25A8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0236E-225F-044F-B1E3-9A091673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336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1.png"/><Relationship Id="rId7" Type="http://schemas.openxmlformats.org/officeDocument/2006/relationships/image" Target="../media/image2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gif"/><Relationship Id="rId5" Type="http://schemas.openxmlformats.org/officeDocument/2006/relationships/image" Target="../media/image23.gif"/><Relationship Id="rId4" Type="http://schemas.openxmlformats.org/officeDocument/2006/relationships/image" Target="../media/image22.png"/><Relationship Id="rId9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niversità degli Studi di Trieste - UniTs - La Nuova Copisteria">
            <a:extLst>
              <a:ext uri="{FF2B5EF4-FFF2-40B4-BE49-F238E27FC236}">
                <a16:creationId xmlns:a16="http://schemas.microsoft.com/office/drawing/2014/main" id="{4F8C34F3-2530-93E1-FC25-260FE2DA5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700"/>
            <a:ext cx="7620000" cy="683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1FD77A9-9769-29FD-F1B4-99BFAA7E436A}"/>
              </a:ext>
            </a:extLst>
          </p:cNvPr>
          <p:cNvSpPr txBox="1"/>
          <p:nvPr/>
        </p:nvSpPr>
        <p:spPr>
          <a:xfrm>
            <a:off x="2148195" y="195733"/>
            <a:ext cx="7305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sz="2000" b="1" i="0" dirty="0">
                <a:solidFill>
                  <a:srgbClr val="000000"/>
                </a:solidFill>
                <a:effectLst/>
                <a:latin typeface="Avenir Next LT Pro" panose="020B0504020202020204" pitchFamily="34" charset="77"/>
              </a:rPr>
              <a:t>UNIVERSITY OF TRIESTE</a:t>
            </a:r>
            <a:endParaRPr lang="it-IT" sz="2000" b="1" dirty="0">
              <a:solidFill>
                <a:srgbClr val="000000"/>
              </a:solidFill>
              <a:effectLst/>
              <a:latin typeface="Avenir Next LT Pro" panose="020B0504020202020204" pitchFamily="34" charset="77"/>
            </a:endParaRPr>
          </a:p>
          <a:p>
            <a:pPr>
              <a:buNone/>
            </a:pPr>
            <a:r>
              <a:rPr lang="it-IT" sz="2000" b="1" i="0" dirty="0">
                <a:solidFill>
                  <a:srgbClr val="000000"/>
                </a:solidFill>
                <a:effectLst/>
                <a:latin typeface="Avenir Next LT Pro" panose="020B0504020202020204" pitchFamily="34" charset="77"/>
              </a:rPr>
              <a:t>Department of </a:t>
            </a:r>
            <a:r>
              <a:rPr lang="it-IT" sz="2000" b="1" i="0" dirty="0" err="1">
                <a:solidFill>
                  <a:srgbClr val="000000"/>
                </a:solidFill>
                <a:effectLst/>
                <a:latin typeface="Avenir Next LT Pro" panose="020B0504020202020204" pitchFamily="34" charset="77"/>
              </a:rPr>
              <a:t>Mathematics</a:t>
            </a:r>
            <a:r>
              <a:rPr lang="it-IT" sz="2000" b="1" i="0" dirty="0">
                <a:solidFill>
                  <a:srgbClr val="000000"/>
                </a:solidFill>
                <a:effectLst/>
                <a:latin typeface="Avenir Next LT Pro" panose="020B0504020202020204" pitchFamily="34" charset="77"/>
              </a:rPr>
              <a:t>, </a:t>
            </a:r>
            <a:r>
              <a:rPr lang="it-IT" sz="2000" b="1" i="0" dirty="0" err="1">
                <a:solidFill>
                  <a:srgbClr val="000000"/>
                </a:solidFill>
                <a:effectLst/>
                <a:latin typeface="Avenir Next LT Pro" panose="020B0504020202020204" pitchFamily="34" charset="77"/>
              </a:rPr>
              <a:t>Informatics</a:t>
            </a:r>
            <a:r>
              <a:rPr lang="it-IT" sz="2000" b="1" i="0" dirty="0">
                <a:solidFill>
                  <a:srgbClr val="000000"/>
                </a:solidFill>
                <a:effectLst/>
                <a:latin typeface="Avenir Next LT Pro" panose="020B0504020202020204" pitchFamily="34" charset="77"/>
              </a:rPr>
              <a:t> and </a:t>
            </a:r>
            <a:r>
              <a:rPr lang="it-IT" sz="2000" b="1" i="0" dirty="0" err="1">
                <a:solidFill>
                  <a:srgbClr val="000000"/>
                </a:solidFill>
                <a:effectLst/>
                <a:latin typeface="Avenir Next LT Pro" panose="020B0504020202020204" pitchFamily="34" charset="77"/>
              </a:rPr>
              <a:t>Geosciences</a:t>
            </a:r>
            <a:endParaRPr lang="it-IT" sz="2000" b="1" dirty="0">
              <a:solidFill>
                <a:srgbClr val="000000"/>
              </a:solidFill>
              <a:effectLst/>
              <a:latin typeface="Avenir Next LT Pro" panose="020B0504020202020204" pitchFamily="34" charset="77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DB4F4CC-DFED-754D-22AD-DF8E609991C4}"/>
              </a:ext>
            </a:extLst>
          </p:cNvPr>
          <p:cNvSpPr txBox="1"/>
          <p:nvPr/>
        </p:nvSpPr>
        <p:spPr>
          <a:xfrm>
            <a:off x="3629945" y="987064"/>
            <a:ext cx="43421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sz="2000" i="1" dirty="0" err="1">
                <a:solidFill>
                  <a:srgbClr val="000000"/>
                </a:solidFill>
                <a:effectLst/>
                <a:latin typeface="Avenir Next LT Pro Light" panose="020B0304020202020204" pitchFamily="34" charset="77"/>
              </a:rPr>
              <a:t>Master’s</a:t>
            </a:r>
            <a:r>
              <a:rPr lang="it-IT" sz="2000" i="1" dirty="0">
                <a:solidFill>
                  <a:srgbClr val="000000"/>
                </a:solidFill>
                <a:effectLst/>
                <a:latin typeface="Avenir Next LT Pro Light" panose="020B0304020202020204" pitchFamily="34" charset="77"/>
              </a:rPr>
              <a:t> Degree in</a:t>
            </a:r>
          </a:p>
          <a:p>
            <a:pPr algn="ctr">
              <a:buNone/>
            </a:pPr>
            <a:r>
              <a:rPr lang="it-IT" sz="2000" i="1" dirty="0">
                <a:solidFill>
                  <a:srgbClr val="000000"/>
                </a:solidFill>
                <a:effectLst/>
                <a:latin typeface="Avenir Next LT Pro Light" panose="020B0304020202020204" pitchFamily="34" charset="77"/>
              </a:rPr>
              <a:t>Data Science &amp; </a:t>
            </a:r>
            <a:r>
              <a:rPr lang="it-IT" sz="2000" i="1" dirty="0" err="1">
                <a:solidFill>
                  <a:srgbClr val="000000"/>
                </a:solidFill>
                <a:effectLst/>
                <a:latin typeface="Avenir Next LT Pro Light" panose="020B0304020202020204" pitchFamily="34" charset="77"/>
              </a:rPr>
              <a:t>Artificial</a:t>
            </a:r>
            <a:r>
              <a:rPr lang="it-IT" sz="2000" i="1" dirty="0">
                <a:solidFill>
                  <a:srgbClr val="000000"/>
                </a:solidFill>
                <a:effectLst/>
                <a:latin typeface="Avenir Next LT Pro Light" panose="020B0304020202020204" pitchFamily="34" charset="77"/>
              </a:rPr>
              <a:t> Intelligence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8CB2C82B-453E-341D-8A57-D00D95DB7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9636"/>
            <a:ext cx="9035845" cy="3466349"/>
          </a:xfrm>
        </p:spPr>
        <p:txBody>
          <a:bodyPr>
            <a:normAutofit fontScale="90000"/>
          </a:bodyPr>
          <a:lstStyle/>
          <a:p>
            <a:r>
              <a:rPr lang="it-IT" b="1" dirty="0" err="1"/>
              <a:t>Spatio-Temporal</a:t>
            </a:r>
            <a:r>
              <a:rPr lang="it-IT" b="1" dirty="0"/>
              <a:t> </a:t>
            </a:r>
            <a:r>
              <a:rPr lang="it-IT" b="1" dirty="0" err="1"/>
              <a:t>Logic</a:t>
            </a:r>
            <a:r>
              <a:rPr lang="it-IT" b="1" dirty="0"/>
              <a:t> </a:t>
            </a:r>
            <a:r>
              <a:rPr lang="it-IT" b="1" dirty="0" err="1"/>
              <a:t>Guided</a:t>
            </a:r>
            <a:r>
              <a:rPr lang="it-IT" b="1" dirty="0"/>
              <a:t> </a:t>
            </a:r>
            <a:r>
              <a:rPr lang="it-IT" b="1" dirty="0" err="1"/>
              <a:t>Optimization</a:t>
            </a:r>
            <a:r>
              <a:rPr lang="it-IT" b="1" dirty="0"/>
              <a:t> for</a:t>
            </a:r>
            <a:br>
              <a:rPr lang="it-IT" b="1" dirty="0"/>
            </a:br>
            <a:r>
              <a:rPr lang="it-IT" b="1" dirty="0" err="1"/>
              <a:t>Collective</a:t>
            </a:r>
            <a:r>
              <a:rPr lang="it-IT" b="1" dirty="0"/>
              <a:t> </a:t>
            </a:r>
            <a:r>
              <a:rPr lang="it-IT" b="1" dirty="0" err="1"/>
              <a:t>Adaptive</a:t>
            </a:r>
            <a:r>
              <a:rPr lang="it-IT" b="1" dirty="0"/>
              <a:t> Systems</a:t>
            </a:r>
            <a:br>
              <a:rPr lang="it-IT" dirty="0"/>
            </a:br>
            <a:endParaRPr lang="it-IT" dirty="0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36510C25-B65A-1BE8-F6A6-EB1652AD7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97160" y="4900540"/>
            <a:ext cx="2703870" cy="984710"/>
          </a:xfrm>
        </p:spPr>
        <p:txBody>
          <a:bodyPr/>
          <a:lstStyle/>
          <a:p>
            <a:pPr algn="r"/>
            <a:r>
              <a:rPr lang="it-IT" dirty="0"/>
              <a:t>Candidate</a:t>
            </a:r>
          </a:p>
          <a:p>
            <a:pPr algn="r"/>
            <a:r>
              <a:rPr lang="it-IT" b="1" dirty="0"/>
              <a:t>Annalisa Paladino</a:t>
            </a: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7833AA40-F686-2530-619B-119C2C7C85A8}"/>
              </a:ext>
            </a:extLst>
          </p:cNvPr>
          <p:cNvSpPr txBox="1">
            <a:spLocks/>
          </p:cNvSpPr>
          <p:nvPr/>
        </p:nvSpPr>
        <p:spPr>
          <a:xfrm>
            <a:off x="6390972" y="4900540"/>
            <a:ext cx="3313468" cy="984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Supervisor</a:t>
            </a:r>
          </a:p>
          <a:p>
            <a:pPr algn="l"/>
            <a:r>
              <a:rPr lang="it-IT" b="1" dirty="0"/>
              <a:t>Prof. Francesca Cairoli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1874551D-E76D-4E90-AE26-BAD5F629BE79}"/>
              </a:ext>
            </a:extLst>
          </p:cNvPr>
          <p:cNvSpPr txBox="1">
            <a:spLocks/>
          </p:cNvSpPr>
          <p:nvPr/>
        </p:nvSpPr>
        <p:spPr>
          <a:xfrm>
            <a:off x="5030429" y="6067317"/>
            <a:ext cx="2131142" cy="4923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Avenir Next LT Pro" panose="020B0504020202020204" pitchFamily="34" charset="77"/>
              </a:rPr>
              <a:t>A.Y. 2024/2025</a:t>
            </a:r>
          </a:p>
        </p:txBody>
      </p:sp>
      <p:pic>
        <p:nvPicPr>
          <p:cNvPr id="11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10043C11-8A24-A305-684A-FFF5B3C81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D0B02C9D-04F6-1F72-EF49-A5D414A0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9337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82832F-2AA5-7C1F-1EE8-49464268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 err="1"/>
              <a:t>Introduction</a:t>
            </a:r>
            <a:endParaRPr lang="it-IT" b="1" dirty="0"/>
          </a:p>
        </p:txBody>
      </p:sp>
      <p:pic>
        <p:nvPicPr>
          <p:cNvPr id="4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4FC30398-7527-7D65-C994-47FFCAD26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8104D06-7998-EE42-AC2F-AB9C7EDC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1</a:t>
            </a:fld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43A4594-1AF4-7998-C07B-F11EBF2B7CF3}"/>
              </a:ext>
            </a:extLst>
          </p:cNvPr>
          <p:cNvSpPr txBox="1"/>
          <p:nvPr/>
        </p:nvSpPr>
        <p:spPr>
          <a:xfrm>
            <a:off x="1003300" y="1931261"/>
            <a:ext cx="733336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2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Collective</a:t>
            </a:r>
            <a:r>
              <a:rPr kumimoji="0" lang="it-IT" altLang="it-IT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Adaptive</a:t>
            </a:r>
            <a:r>
              <a:rPr kumimoji="0" lang="it-IT" altLang="it-IT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Systems (CAS):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Large-scale networks of 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autonomous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agents (e.g., drone 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swarms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operating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dynamic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uncertain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environments</a:t>
            </a:r>
            <a:endParaRPr kumimoji="0" lang="it-IT" altLang="it-IT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752AEE2-7521-E294-EAB9-87CA95346B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5851" y="5248354"/>
            <a:ext cx="1112957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2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Formal</a:t>
            </a:r>
            <a:r>
              <a:rPr kumimoji="0" lang="it-IT" altLang="it-IT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Methods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improve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Traditional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it-IT" altLang="it-IT" sz="2200" b="1" dirty="0">
                <a:solidFill>
                  <a:srgbClr val="000000"/>
                </a:solidFill>
                <a:latin typeface="Arial" panose="020B0604020202020204" pitchFamily="34" charset="0"/>
              </a:rPr>
              <a:t>How? 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 </a:t>
            </a:r>
            <a:r>
              <a:rPr kumimoji="0" lang="it-IT" altLang="it-IT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STREL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Spatio-Temporal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Reach and Escape 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Logic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Reward</a:t>
            </a:r>
            <a:r>
              <a:rPr kumimoji="0" lang="it-IT" altLang="it-IT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Function</a:t>
            </a:r>
            <a:endParaRPr kumimoji="0" lang="it-IT" altLang="it-IT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7F8B901-38FF-6D47-BB73-0272AC116026}"/>
              </a:ext>
            </a:extLst>
          </p:cNvPr>
          <p:cNvSpPr txBox="1"/>
          <p:nvPr/>
        </p:nvSpPr>
        <p:spPr>
          <a:xfrm>
            <a:off x="1003300" y="3039257"/>
            <a:ext cx="683832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Challenge: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Traditional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Reinforcement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Learning (RL) 		</a:t>
            </a:r>
            <a:r>
              <a:rPr kumimoji="0" lang="it-IT" altLang="it-IT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relies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it-IT" altLang="it-IT" sz="2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Reward</a:t>
            </a:r>
            <a:r>
              <a:rPr kumimoji="0" lang="it-IT" altLang="it-IT" sz="2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Shaping</a:t>
            </a:r>
            <a:r>
              <a:rPr kumimoji="0" lang="it-IT" altLang="it-IT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DFBB4F2-7BDD-1A18-269C-CEA528EA9E75}"/>
              </a:ext>
            </a:extLst>
          </p:cNvPr>
          <p:cNvSpPr txBox="1"/>
          <p:nvPr/>
        </p:nvSpPr>
        <p:spPr>
          <a:xfrm>
            <a:off x="838200" y="4097656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Manual &amp; </a:t>
            </a:r>
            <a:r>
              <a:rPr kumimoji="0" lang="it-IT" altLang="it-IT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-prone: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Hard to design for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complex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behaviors</a:t>
            </a:r>
            <a:endParaRPr lang="it-IT" altLang="it-IT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4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it-IT" altLang="it-IT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Opaque</a:t>
            </a: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Lacks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formal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guarantees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interpretability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Immagine 15" descr="Immagine che contiene quadrato, linea, Rettangolo, testo&#10;&#10;Il contenuto generato dall'IA potrebbe non essere corretto.">
            <a:extLst>
              <a:ext uri="{FF2B5EF4-FFF2-40B4-BE49-F238E27FC236}">
                <a16:creationId xmlns:a16="http://schemas.microsoft.com/office/drawing/2014/main" id="{76009713-4D0B-3E33-4A21-C5F63A205F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794"/>
          <a:stretch>
            <a:fillRect/>
          </a:stretch>
        </p:blipFill>
        <p:spPr>
          <a:xfrm>
            <a:off x="8006727" y="365125"/>
            <a:ext cx="3728992" cy="378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14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1F7CF6B9-1582-866A-A2FC-48DFEF197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61BFA19-7FAD-AC80-D407-2EF5E2809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2</a:t>
            </a:fld>
            <a:endParaRPr lang="it-IT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33005046-AA3E-4F8F-0689-84CA089D8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 err="1"/>
              <a:t>Spatio-Temporal</a:t>
            </a:r>
            <a:r>
              <a:rPr lang="it-IT" b="1" dirty="0"/>
              <a:t> Reach and Escape </a:t>
            </a:r>
            <a:r>
              <a:rPr lang="it-IT" b="1" dirty="0" err="1"/>
              <a:t>Logic</a:t>
            </a:r>
            <a:br>
              <a:rPr lang="it-IT" b="1" dirty="0"/>
            </a:br>
            <a:r>
              <a:rPr lang="it-IT" b="1" dirty="0"/>
              <a:t>STREL</a:t>
            </a:r>
            <a:endParaRPr lang="it-IT" dirty="0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5509F055-DDE1-3120-B7DA-3AAED656ACFA}"/>
              </a:ext>
            </a:extLst>
          </p:cNvPr>
          <p:cNvSpPr/>
          <p:nvPr/>
        </p:nvSpPr>
        <p:spPr>
          <a:xfrm>
            <a:off x="838200" y="1825625"/>
            <a:ext cx="10363200" cy="1191491"/>
          </a:xfrm>
          <a:prstGeom prst="roundRect">
            <a:avLst/>
          </a:prstGeom>
          <a:solidFill>
            <a:srgbClr val="ECE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rgbClr val="C00000"/>
                </a:solidFill>
              </a:rPr>
              <a:t>STREL</a:t>
            </a:r>
            <a:r>
              <a:rPr lang="it-IT" sz="2800" dirty="0">
                <a:solidFill>
                  <a:schemeClr val="tx1"/>
                </a:solidFill>
              </a:rPr>
              <a:t>: a </a:t>
            </a:r>
            <a:r>
              <a:rPr lang="it-IT" sz="2800" dirty="0" err="1">
                <a:solidFill>
                  <a:schemeClr val="tx1"/>
                </a:solidFill>
              </a:rPr>
              <a:t>formal</a:t>
            </a:r>
            <a:r>
              <a:rPr lang="it-IT" sz="2800" dirty="0">
                <a:solidFill>
                  <a:schemeClr val="tx1"/>
                </a:solidFill>
              </a:rPr>
              <a:t> </a:t>
            </a:r>
            <a:r>
              <a:rPr lang="it-IT" sz="2800" dirty="0" err="1">
                <a:solidFill>
                  <a:schemeClr val="tx1"/>
                </a:solidFill>
              </a:rPr>
              <a:t>logic</a:t>
            </a:r>
            <a:r>
              <a:rPr lang="it-IT" sz="2800" dirty="0">
                <a:solidFill>
                  <a:schemeClr val="tx1"/>
                </a:solidFill>
              </a:rPr>
              <a:t> </a:t>
            </a:r>
            <a:r>
              <a:rPr lang="it-IT" sz="2800" dirty="0" err="1">
                <a:solidFill>
                  <a:schemeClr val="tx1"/>
                </a:solidFill>
              </a:rPr>
              <a:t>used</a:t>
            </a:r>
            <a:r>
              <a:rPr lang="it-IT" sz="2800" dirty="0">
                <a:solidFill>
                  <a:schemeClr val="tx1"/>
                </a:solidFill>
              </a:rPr>
              <a:t> to </a:t>
            </a:r>
            <a:r>
              <a:rPr lang="it-IT" sz="2800" dirty="0" err="1">
                <a:solidFill>
                  <a:schemeClr val="tx1"/>
                </a:solidFill>
              </a:rPr>
              <a:t>specify</a:t>
            </a:r>
            <a:r>
              <a:rPr lang="it-IT" sz="2800" dirty="0">
                <a:solidFill>
                  <a:schemeClr val="tx1"/>
                </a:solidFill>
              </a:rPr>
              <a:t> and </a:t>
            </a:r>
            <a:r>
              <a:rPr lang="it-IT" sz="2800" dirty="0" err="1">
                <a:solidFill>
                  <a:schemeClr val="tx1"/>
                </a:solidFill>
              </a:rPr>
              <a:t>verify</a:t>
            </a:r>
            <a:r>
              <a:rPr lang="it-IT" sz="2800" dirty="0">
                <a:solidFill>
                  <a:schemeClr val="tx1"/>
                </a:solidFill>
              </a:rPr>
              <a:t> the </a:t>
            </a:r>
            <a:r>
              <a:rPr lang="it-IT" sz="2800" dirty="0" err="1">
                <a:solidFill>
                  <a:schemeClr val="tx1"/>
                </a:solidFill>
              </a:rPr>
              <a:t>behavior</a:t>
            </a:r>
            <a:r>
              <a:rPr lang="it-IT" sz="2800" dirty="0">
                <a:solidFill>
                  <a:schemeClr val="tx1"/>
                </a:solidFill>
              </a:rPr>
              <a:t> of </a:t>
            </a:r>
            <a:r>
              <a:rPr lang="it-IT" sz="2800" dirty="0" err="1">
                <a:solidFill>
                  <a:schemeClr val="tx1"/>
                </a:solidFill>
              </a:rPr>
              <a:t>distributed</a:t>
            </a:r>
            <a:r>
              <a:rPr lang="it-IT" sz="2800" dirty="0">
                <a:solidFill>
                  <a:schemeClr val="tx1"/>
                </a:solidFill>
              </a:rPr>
              <a:t> systems </a:t>
            </a:r>
            <a:r>
              <a:rPr lang="it-IT" sz="2800" dirty="0" err="1">
                <a:solidFill>
                  <a:schemeClr val="tx1"/>
                </a:solidFill>
              </a:rPr>
              <a:t>evolving</a:t>
            </a:r>
            <a:r>
              <a:rPr lang="it-IT" sz="2800" dirty="0">
                <a:solidFill>
                  <a:schemeClr val="tx1"/>
                </a:solidFill>
              </a:rPr>
              <a:t> over </a:t>
            </a:r>
            <a:r>
              <a:rPr lang="it-IT" sz="2800" dirty="0" err="1">
                <a:solidFill>
                  <a:schemeClr val="tx1"/>
                </a:solidFill>
              </a:rPr>
              <a:t>both</a:t>
            </a:r>
            <a:r>
              <a:rPr lang="it-IT" sz="2800" dirty="0">
                <a:solidFill>
                  <a:schemeClr val="tx1"/>
                </a:solidFill>
              </a:rPr>
              <a:t> </a:t>
            </a:r>
            <a:r>
              <a:rPr lang="it-IT" sz="2800" b="1" dirty="0">
                <a:solidFill>
                  <a:schemeClr val="tx1"/>
                </a:solidFill>
              </a:rPr>
              <a:t>time</a:t>
            </a:r>
            <a:r>
              <a:rPr lang="it-IT" sz="2800" dirty="0">
                <a:solidFill>
                  <a:schemeClr val="tx1"/>
                </a:solidFill>
              </a:rPr>
              <a:t> and </a:t>
            </a:r>
            <a:r>
              <a:rPr lang="it-IT" sz="2800" b="1" dirty="0">
                <a:solidFill>
                  <a:schemeClr val="tx1"/>
                </a:solidFill>
              </a:rPr>
              <a:t>space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903EE08D-9F17-FD7A-DCA6-0982BA9A9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2053"/>
            <a:ext cx="10515600" cy="207601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dirty="0"/>
              <a:t>The system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modeled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b="1" dirty="0" err="1"/>
              <a:t>dynamic</a:t>
            </a:r>
            <a:r>
              <a:rPr lang="it-IT" b="1" dirty="0"/>
              <a:t> </a:t>
            </a:r>
            <a:r>
              <a:rPr lang="it-IT" b="1" dirty="0" err="1"/>
              <a:t>weighted</a:t>
            </a:r>
            <a:r>
              <a:rPr lang="it-IT" b="1" dirty="0"/>
              <a:t> </a:t>
            </a:r>
            <a:r>
              <a:rPr lang="it-IT" b="1" dirty="0" err="1"/>
              <a:t>graph</a:t>
            </a:r>
            <a:r>
              <a:rPr lang="it-IT" dirty="0"/>
              <a:t>:</a:t>
            </a:r>
          </a:p>
          <a:p>
            <a:pPr lvl="1" algn="just"/>
            <a:r>
              <a:rPr lang="it-IT" sz="2800" b="1" dirty="0" err="1"/>
              <a:t>nodes</a:t>
            </a:r>
            <a:r>
              <a:rPr lang="it-IT" sz="2800" dirty="0"/>
              <a:t> </a:t>
            </a:r>
            <a:r>
              <a:rPr lang="it-IT" sz="2800" dirty="0" err="1"/>
              <a:t>represent</a:t>
            </a:r>
            <a:r>
              <a:rPr lang="it-IT" sz="2800" dirty="0"/>
              <a:t> agents or locations</a:t>
            </a:r>
          </a:p>
          <a:p>
            <a:pPr lvl="1" algn="just"/>
            <a:r>
              <a:rPr lang="it-IT" sz="2800" b="1" dirty="0" err="1"/>
              <a:t>edges</a:t>
            </a:r>
            <a:r>
              <a:rPr lang="it-IT" sz="2800" dirty="0"/>
              <a:t> </a:t>
            </a:r>
            <a:r>
              <a:rPr lang="it-IT" sz="2800" dirty="0" err="1"/>
              <a:t>represent</a:t>
            </a:r>
            <a:r>
              <a:rPr lang="it-IT" sz="2800" dirty="0"/>
              <a:t> interactions, </a:t>
            </a:r>
            <a:r>
              <a:rPr lang="it-IT" sz="2800" dirty="0" err="1"/>
              <a:t>proximity</a:t>
            </a:r>
            <a:r>
              <a:rPr lang="it-IT" sz="2800" dirty="0"/>
              <a:t>, or </a:t>
            </a:r>
            <a:r>
              <a:rPr lang="it-IT" sz="2800" dirty="0" err="1"/>
              <a:t>connectivity</a:t>
            </a:r>
            <a:endParaRPr lang="it-IT" sz="28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6B65901-7AAE-6DAF-C8FC-C0C108AB1107}"/>
              </a:ext>
            </a:extLst>
          </p:cNvPr>
          <p:cNvSpPr txBox="1"/>
          <p:nvPr/>
        </p:nvSpPr>
        <p:spPr>
          <a:xfrm>
            <a:off x="1293838" y="4975320"/>
            <a:ext cx="10255612" cy="163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2400" b="1" dirty="0" err="1">
                <a:solidFill>
                  <a:srgbClr val="0D0D0D"/>
                </a:solidFill>
              </a:rPr>
              <a:t>S</a:t>
            </a:r>
            <a:r>
              <a:rPr lang="it-IT" sz="2400" b="1" i="0" dirty="0" err="1">
                <a:solidFill>
                  <a:srgbClr val="0D0D0D"/>
                </a:solidFill>
                <a:effectLst/>
              </a:rPr>
              <a:t>emantics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:</a:t>
            </a: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it-IT" sz="2400" b="1" i="0" dirty="0" err="1">
                <a:solidFill>
                  <a:srgbClr val="0D0D0D"/>
                </a:solidFill>
                <a:effectLst/>
              </a:rPr>
              <a:t>Boolean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: 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tells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whether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a formula 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is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true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or false</a:t>
            </a: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it-IT" sz="2400" b="1" i="0" dirty="0">
                <a:solidFill>
                  <a:srgbClr val="0D0D0D"/>
                </a:solidFill>
                <a:effectLst/>
              </a:rPr>
              <a:t>Quantitative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: 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measures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how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strongly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a 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property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is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satisfied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or 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violated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			      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through</a:t>
            </a:r>
            <a:r>
              <a:rPr lang="it-IT" sz="2400" b="0" i="0" dirty="0">
                <a:solidFill>
                  <a:srgbClr val="0D0D0D"/>
                </a:solidFill>
                <a:effectLst/>
              </a:rPr>
              <a:t> </a:t>
            </a:r>
            <a:r>
              <a:rPr lang="it-IT" sz="2400" b="0" i="0" dirty="0" err="1">
                <a:solidFill>
                  <a:srgbClr val="0D0D0D"/>
                </a:solidFill>
                <a:effectLst/>
              </a:rPr>
              <a:t>robustness</a:t>
            </a:r>
            <a:endParaRPr lang="it-IT" sz="2400" b="0" i="0" dirty="0">
              <a:solidFill>
                <a:srgbClr val="0D0D0D"/>
              </a:solidFill>
              <a:effectLst/>
            </a:endParaRPr>
          </a:p>
        </p:txBody>
      </p:sp>
      <p:pic>
        <p:nvPicPr>
          <p:cNvPr id="10" name="Picture 4" descr="La Teoria dei Grafi e la Struttura del Web - GameLudere">
            <a:extLst>
              <a:ext uri="{FF2B5EF4-FFF2-40B4-BE49-F238E27FC236}">
                <a16:creationId xmlns:a16="http://schemas.microsoft.com/office/drawing/2014/main" id="{692E7338-ABCB-576A-2B39-0B7F17E088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6" t="3888" r="15233" b="9608"/>
          <a:stretch>
            <a:fillRect/>
          </a:stretch>
        </p:blipFill>
        <p:spPr bwMode="auto">
          <a:xfrm>
            <a:off x="10061732" y="3078103"/>
            <a:ext cx="2040410" cy="1897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03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D702AF-980A-F492-B172-0CC1842B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9113"/>
            <a:ext cx="10783529" cy="4351338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STREL combines: </a:t>
            </a:r>
            <a:r>
              <a:rPr lang="it-IT" b="1" dirty="0" err="1">
                <a:solidFill>
                  <a:schemeClr val="accent1"/>
                </a:solidFill>
              </a:rPr>
              <a:t>logical</a:t>
            </a:r>
            <a:r>
              <a:rPr lang="it-IT" b="1" dirty="0">
                <a:solidFill>
                  <a:schemeClr val="accent1"/>
                </a:solidFill>
              </a:rPr>
              <a:t>, </a:t>
            </a:r>
            <a:r>
              <a:rPr lang="it-IT" b="1" dirty="0" err="1">
                <a:solidFill>
                  <a:schemeClr val="accent1"/>
                </a:solidFill>
              </a:rPr>
              <a:t>temporal</a:t>
            </a:r>
            <a:r>
              <a:rPr lang="it-IT" dirty="0">
                <a:solidFill>
                  <a:schemeClr val="accent1"/>
                </a:solidFill>
              </a:rPr>
              <a:t> </a:t>
            </a:r>
            <a:r>
              <a:rPr lang="it-IT" dirty="0" err="1">
                <a:solidFill>
                  <a:schemeClr val="accent1"/>
                </a:solidFill>
              </a:rPr>
              <a:t>operators</a:t>
            </a:r>
            <a:r>
              <a:rPr lang="it-IT" dirty="0">
                <a:solidFill>
                  <a:schemeClr val="accent1"/>
                </a:solidFill>
              </a:rPr>
              <a:t> </a:t>
            </a:r>
            <a:r>
              <a:rPr lang="it-IT" dirty="0"/>
              <a:t>and </a:t>
            </a:r>
            <a:r>
              <a:rPr lang="it-IT" b="1" dirty="0" err="1">
                <a:solidFill>
                  <a:srgbClr val="C00000"/>
                </a:solidFill>
              </a:rPr>
              <a:t>spatial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operators</a:t>
            </a:r>
            <a:endParaRPr lang="it-IT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A9787CFB-808D-B221-00BB-A1393FD3A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41A3DDF-F384-042E-9103-20E16162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3</a:t>
            </a:fld>
            <a:endParaRPr lang="it-IT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7C04F340-60AB-05AD-5F41-9663FE20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14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Syntax</a:t>
            </a:r>
            <a:endParaRPr lang="it-IT" b="1" dirty="0"/>
          </a:p>
        </p:txBody>
      </p:sp>
      <p:pic>
        <p:nvPicPr>
          <p:cNvPr id="10" name="Segnaposto contenuto 3">
            <a:extLst>
              <a:ext uri="{FF2B5EF4-FFF2-40B4-BE49-F238E27FC236}">
                <a16:creationId xmlns:a16="http://schemas.microsoft.com/office/drawing/2014/main" id="{41DD5FF0-C282-8967-BC84-CAD16E0D1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76" y="2150473"/>
            <a:ext cx="11011158" cy="918964"/>
          </a:xfrm>
          <a:prstGeom prst="rect">
            <a:avLst/>
          </a:prstGeom>
        </p:spPr>
      </p:pic>
      <p:sp>
        <p:nvSpPr>
          <p:cNvPr id="11" name="Parentesi graffa chiusa 10">
            <a:extLst>
              <a:ext uri="{FF2B5EF4-FFF2-40B4-BE49-F238E27FC236}">
                <a16:creationId xmlns:a16="http://schemas.microsoft.com/office/drawing/2014/main" id="{B25DB4D2-5D7E-3760-9132-0E56866C9E45}"/>
              </a:ext>
            </a:extLst>
          </p:cNvPr>
          <p:cNvSpPr/>
          <p:nvPr/>
        </p:nvSpPr>
        <p:spPr>
          <a:xfrm rot="16200000">
            <a:off x="4573614" y="-1248790"/>
            <a:ext cx="559475" cy="6330890"/>
          </a:xfrm>
          <a:prstGeom prst="rightBrac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Parentesi graffa chiusa 12">
            <a:extLst>
              <a:ext uri="{FF2B5EF4-FFF2-40B4-BE49-F238E27FC236}">
                <a16:creationId xmlns:a16="http://schemas.microsoft.com/office/drawing/2014/main" id="{4FC848A7-7DE7-A79D-AD51-10E230980BCC}"/>
              </a:ext>
            </a:extLst>
          </p:cNvPr>
          <p:cNvSpPr/>
          <p:nvPr/>
        </p:nvSpPr>
        <p:spPr>
          <a:xfrm rot="16200000">
            <a:off x="9654340" y="239586"/>
            <a:ext cx="559475" cy="3375303"/>
          </a:xfrm>
          <a:prstGeom prst="rightBrac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B2250BF1-2834-B951-3BEC-5E16DC90C79B}"/>
              </a:ext>
            </a:extLst>
          </p:cNvPr>
          <p:cNvSpPr/>
          <p:nvPr/>
        </p:nvSpPr>
        <p:spPr>
          <a:xfrm>
            <a:off x="4473268" y="3558903"/>
            <a:ext cx="3245464" cy="3055591"/>
          </a:xfrm>
          <a:prstGeom prst="ellipse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B9E2318C-E129-CA32-1E71-444DF8089F20}"/>
              </a:ext>
            </a:extLst>
          </p:cNvPr>
          <p:cNvSpPr txBox="1"/>
          <p:nvPr/>
        </p:nvSpPr>
        <p:spPr>
          <a:xfrm>
            <a:off x="3581400" y="3594533"/>
            <a:ext cx="142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>
                <a:solidFill>
                  <a:srgbClr val="C00000"/>
                </a:solidFill>
              </a:rPr>
              <a:t>STREL</a:t>
            </a:r>
            <a:endParaRPr lang="it-IT" sz="2800" dirty="0"/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9F038940-7F98-A88D-9E46-CD26211B9C29}"/>
              </a:ext>
            </a:extLst>
          </p:cNvPr>
          <p:cNvSpPr/>
          <p:nvPr/>
        </p:nvSpPr>
        <p:spPr>
          <a:xfrm>
            <a:off x="6229964" y="4161081"/>
            <a:ext cx="1231900" cy="1262390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23212D09-37A7-25FA-B002-994C64A95477}"/>
              </a:ext>
            </a:extLst>
          </p:cNvPr>
          <p:cNvSpPr txBox="1"/>
          <p:nvPr/>
        </p:nvSpPr>
        <p:spPr>
          <a:xfrm>
            <a:off x="5715122" y="3868833"/>
            <a:ext cx="114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>
                <a:solidFill>
                  <a:schemeClr val="accent1"/>
                </a:solidFill>
              </a:rPr>
              <a:t>STL</a:t>
            </a:r>
            <a:endParaRPr lang="it-IT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139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6494D5-E11D-4F0B-D85A-3A7B5EDF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89"/>
            <a:ext cx="10515600" cy="1325563"/>
          </a:xfrm>
        </p:spPr>
        <p:txBody>
          <a:bodyPr/>
          <a:lstStyle/>
          <a:p>
            <a:pPr algn="ctr"/>
            <a:r>
              <a:rPr lang="it-IT" b="1" dirty="0"/>
              <a:t>A </a:t>
            </a:r>
            <a:r>
              <a:rPr lang="it-IT" b="1" dirty="0" err="1"/>
              <a:t>Differentiable</a:t>
            </a:r>
            <a:r>
              <a:rPr lang="it-IT" b="1" dirty="0"/>
              <a:t> STREL Library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6820FE8-D00D-A9E8-A3E1-04BEB04291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0002"/>
                <a:ext cx="10515600" cy="455634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it-IT" sz="3100" b="1" u="sng" dirty="0"/>
                  <a:t>Goal</a:t>
                </a:r>
                <a:r>
                  <a:rPr lang="it-IT" sz="3100" dirty="0"/>
                  <a:t>: to integrate </a:t>
                </a:r>
                <a:r>
                  <a:rPr lang="it-IT" sz="3100" dirty="0" err="1"/>
                  <a:t>formal</a:t>
                </a:r>
                <a:r>
                  <a:rPr lang="it-IT" sz="3100" dirty="0"/>
                  <a:t> </a:t>
                </a:r>
                <a:r>
                  <a:rPr lang="it-IT" sz="3100" dirty="0" err="1"/>
                  <a:t>logic</a:t>
                </a:r>
                <a:r>
                  <a:rPr lang="it-IT" sz="3100" dirty="0"/>
                  <a:t> monitoring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it-IT" sz="3100" dirty="0" err="1"/>
                  <a:t>within</a:t>
                </a:r>
                <a:r>
                  <a:rPr lang="it-IT" sz="3100" dirty="0"/>
                  <a:t> </a:t>
                </a:r>
                <a:r>
                  <a:rPr lang="it-IT" sz="3100" dirty="0" err="1"/>
                  <a:t>modern</a:t>
                </a:r>
                <a:r>
                  <a:rPr lang="it-IT" sz="3100" dirty="0"/>
                  <a:t> machine learning workflows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it-IT" sz="31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it-IT" sz="3100" b="1" dirty="0" err="1"/>
                  <a:t>Differentiability</a:t>
                </a:r>
                <a:r>
                  <a:rPr lang="it-IT" sz="3100" b="1" dirty="0"/>
                  <a:t>  </a:t>
                </a:r>
                <a14:m>
                  <m:oMath xmlns:m="http://schemas.openxmlformats.org/officeDocument/2006/math">
                    <m:r>
                      <a:rPr lang="it-IT" sz="31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PyTorch</a:t>
                </a:r>
                <a:endParaRPr lang="it-IT" sz="3100" dirty="0">
                  <a:solidFill>
                    <a:schemeClr val="bg1"/>
                  </a:solidFill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it-IT" sz="3100" b="1" dirty="0" err="1"/>
                  <a:t>Tensorized</a:t>
                </a:r>
                <a:r>
                  <a:rPr lang="it-IT" sz="3100" b="1" dirty="0"/>
                  <a:t> </a:t>
                </a:r>
                <a:r>
                  <a:rPr lang="it-IT" sz="3100" b="1" dirty="0" err="1"/>
                  <a:t>Implementation</a:t>
                </a:r>
                <a:r>
                  <a:rPr lang="it-IT" sz="3100" b="1" dirty="0"/>
                  <a:t> </a:t>
                </a:r>
                <a14:m>
                  <m:oMath xmlns:m="http://schemas.openxmlformats.org/officeDocument/2006/math">
                    <m:r>
                      <a:rPr lang="it-IT" sz="31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3100" dirty="0">
                    <a:solidFill>
                      <a:schemeClr val="bg1"/>
                    </a:solidFill>
                  </a:rPr>
                  <a:t> PyTorch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it-IT" sz="3100" b="1" dirty="0"/>
                  <a:t>Performance </a:t>
                </a:r>
                <a:r>
                  <a:rPr lang="it-IT" sz="3100" b="1" dirty="0" err="1"/>
                  <a:t>Efficiency</a:t>
                </a:r>
                <a:r>
                  <a:rPr lang="it-IT" sz="3100" b="1" dirty="0"/>
                  <a:t> </a:t>
                </a:r>
                <a14:m>
                  <m:oMath xmlns:m="http://schemas.openxmlformats.org/officeDocument/2006/math">
                    <m:r>
                      <a:rPr lang="it-IT" sz="31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3100" b="1" dirty="0"/>
                  <a:t> </a:t>
                </a:r>
                <a:r>
                  <a:rPr lang="it-IT" sz="3100" dirty="0"/>
                  <a:t>GPU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it-IT" sz="3100" dirty="0"/>
                  <a:t>			</a:t>
                </a:r>
                <a:r>
                  <a:rPr lang="it-IT" sz="3100" dirty="0" err="1"/>
                  <a:t>parallelization</a:t>
                </a:r>
                <a:endParaRPr lang="it-IT" sz="31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it-IT" sz="3100" dirty="0"/>
              </a:p>
              <a:p>
                <a:pPr marL="0" indent="0">
                  <a:buNone/>
                </a:pPr>
                <a:r>
                  <a:rPr lang="it-IT" sz="3100" b="1" dirty="0" err="1"/>
                  <a:t>Colored</a:t>
                </a:r>
                <a:r>
                  <a:rPr lang="it-IT" sz="3100" b="1" dirty="0"/>
                  <a:t> STREL (CSTREL)</a:t>
                </a:r>
                <a:r>
                  <a:rPr lang="it-IT" sz="3100" dirty="0"/>
                  <a:t>: </a:t>
                </a:r>
                <a:r>
                  <a:rPr lang="it-IT" sz="3200" dirty="0"/>
                  <a:t>STREL quantitative </a:t>
                </a:r>
                <a:r>
                  <a:rPr lang="it-IT" sz="3200" dirty="0" err="1"/>
                  <a:t>semantics</a:t>
                </a:r>
                <a:r>
                  <a:rPr lang="it-IT" sz="3200" dirty="0"/>
                  <a:t> </a:t>
                </a:r>
                <a:r>
                  <a:rPr lang="it-IT" sz="3200" dirty="0" err="1"/>
                  <a:t>is</a:t>
                </a:r>
                <a:r>
                  <a:rPr lang="it-IT" sz="3200" dirty="0"/>
                  <a:t> </a:t>
                </a:r>
                <a:r>
                  <a:rPr lang="it-IT" sz="3200" dirty="0" err="1"/>
                  <a:t>ill-defined</a:t>
                </a:r>
                <a:r>
                  <a:rPr lang="it-IT" sz="3200" dirty="0"/>
                  <a:t> for discrete 					</a:t>
                </a:r>
                <a:r>
                  <a:rPr lang="it-IT" sz="3200" dirty="0" err="1"/>
                  <a:t>node</a:t>
                </a:r>
                <a:r>
                  <a:rPr lang="it-IT" sz="3200" dirty="0"/>
                  <a:t> </a:t>
                </a:r>
                <a:r>
                  <a:rPr lang="it-IT" sz="3200" dirty="0" err="1"/>
                  <a:t>attributes</a:t>
                </a:r>
                <a:endParaRPr lang="it-IT" sz="3100" dirty="0"/>
              </a:p>
              <a:p>
                <a:pPr marL="457200" indent="-457200"/>
                <a:r>
                  <a:rPr lang="it-IT" sz="3100" dirty="0" err="1"/>
                  <a:t>Each</a:t>
                </a:r>
                <a:r>
                  <a:rPr lang="it-IT" sz="3100" dirty="0"/>
                  <a:t> </a:t>
                </a:r>
                <a:r>
                  <a:rPr lang="it-IT" sz="3100" dirty="0" err="1"/>
                  <a:t>node</a:t>
                </a:r>
                <a:r>
                  <a:rPr lang="it-IT" sz="3100" dirty="0"/>
                  <a:t> </a:t>
                </a:r>
                <a:r>
                  <a:rPr lang="it-IT" sz="3100" dirty="0" err="1"/>
                  <a:t>has</a:t>
                </a:r>
                <a:r>
                  <a:rPr lang="it-IT" sz="3100" dirty="0"/>
                  <a:t> a label (color), </a:t>
                </a:r>
                <a:r>
                  <a:rPr lang="it-IT" sz="3100" dirty="0" err="1"/>
                  <a:t>used</a:t>
                </a:r>
                <a:r>
                  <a:rPr lang="it-IT" sz="3100" dirty="0"/>
                  <a:t> </a:t>
                </a:r>
                <a:r>
                  <a:rPr lang="it-IT" sz="3100" dirty="0" err="1"/>
                  <a:t>as</a:t>
                </a:r>
                <a:r>
                  <a:rPr lang="it-IT" sz="3100" dirty="0"/>
                  <a:t> a </a:t>
                </a:r>
                <a:r>
                  <a:rPr lang="it-IT" sz="3100" b="1" dirty="0"/>
                  <a:t>filter</a:t>
                </a:r>
                <a:r>
                  <a:rPr lang="it-IT" sz="3100" dirty="0"/>
                  <a:t> </a:t>
                </a:r>
                <a:r>
                  <a:rPr lang="it-IT" sz="3100" dirty="0" err="1"/>
                  <a:t>during</a:t>
                </a:r>
                <a:r>
                  <a:rPr lang="it-IT" sz="3100" dirty="0"/>
                  <a:t> monitoring</a:t>
                </a:r>
              </a:p>
              <a:p>
                <a:pPr marL="457200" indent="-457200"/>
                <a:r>
                  <a:rPr lang="it-IT" sz="3100" dirty="0" err="1"/>
                  <a:t>Atomic</a:t>
                </a:r>
                <a:r>
                  <a:rPr lang="it-IT" sz="3100" dirty="0"/>
                  <a:t> </a:t>
                </a:r>
                <a:r>
                  <a:rPr lang="it-IT" sz="3100" dirty="0" err="1"/>
                  <a:t>predicates</a:t>
                </a:r>
                <a:r>
                  <a:rPr lang="it-IT" sz="3100" dirty="0"/>
                  <a:t> and </a:t>
                </a:r>
                <a:r>
                  <a:rPr lang="it-IT" sz="3100" dirty="0" err="1"/>
                  <a:t>spatial</a:t>
                </a:r>
                <a:r>
                  <a:rPr lang="it-IT" sz="3100" dirty="0"/>
                  <a:t> </a:t>
                </a:r>
                <a:r>
                  <a:rPr lang="it-IT" sz="3100" dirty="0" err="1"/>
                  <a:t>operators</a:t>
                </a:r>
                <a:r>
                  <a:rPr lang="it-IT" sz="3100" dirty="0"/>
                  <a:t> restricted to </a:t>
                </a:r>
                <a:r>
                  <a:rPr lang="it-IT" sz="3100" dirty="0" err="1"/>
                  <a:t>specific</a:t>
                </a:r>
                <a:r>
                  <a:rPr lang="it-IT" sz="3100" dirty="0"/>
                  <a:t> </a:t>
                </a:r>
                <a:r>
                  <a:rPr lang="it-IT" sz="3100" dirty="0" err="1"/>
                  <a:t>node</a:t>
                </a:r>
                <a:r>
                  <a:rPr lang="it-IT" sz="3100" dirty="0"/>
                  <a:t> </a:t>
                </a:r>
                <a:r>
                  <a:rPr lang="it-IT" sz="3100" dirty="0" err="1"/>
                  <a:t>types</a:t>
                </a:r>
                <a:endParaRPr lang="it-IT" sz="31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6820FE8-D00D-A9E8-A3E1-04BEB0429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0002"/>
                <a:ext cx="10515600" cy="4556348"/>
              </a:xfrm>
              <a:blipFill>
                <a:blip r:embed="rId3"/>
                <a:stretch>
                  <a:fillRect l="-724" t="-1944" b="-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A2C975B-A134-EF3F-9F34-7C3B69E5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4</a:t>
            </a:fld>
            <a:endParaRPr lang="it-IT" dirty="0"/>
          </a:p>
        </p:txBody>
      </p:sp>
      <p:pic>
        <p:nvPicPr>
          <p:cNvPr id="6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299694E3-8509-F36C-A5E7-BD3F68D2A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37CD3DE2-AE0A-61C2-334A-A82D98474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331" y="1592452"/>
            <a:ext cx="5248661" cy="2923751"/>
          </a:xfrm>
          <a:prstGeom prst="rect">
            <a:avLst/>
          </a:prstGeom>
        </p:spPr>
      </p:pic>
      <p:sp>
        <p:nvSpPr>
          <p:cNvPr id="7" name="Parentesi graffa chiusa 6">
            <a:extLst>
              <a:ext uri="{FF2B5EF4-FFF2-40B4-BE49-F238E27FC236}">
                <a16:creationId xmlns:a16="http://schemas.microsoft.com/office/drawing/2014/main" id="{6A7D0CCB-3635-DF09-BA07-2A2E7E9C48B2}"/>
              </a:ext>
            </a:extLst>
          </p:cNvPr>
          <p:cNvSpPr/>
          <p:nvPr/>
        </p:nvSpPr>
        <p:spPr>
          <a:xfrm>
            <a:off x="4970207" y="2896752"/>
            <a:ext cx="155448" cy="914400"/>
          </a:xfrm>
          <a:prstGeom prst="rightBrace">
            <a:avLst/>
          </a:prstGeom>
          <a:ln w="50800">
            <a:solidFill>
              <a:srgbClr val="ECE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F578CFE-89C2-F9CE-5A74-AF777F73AD33}"/>
              </a:ext>
            </a:extLst>
          </p:cNvPr>
          <p:cNvSpPr txBox="1"/>
          <p:nvPr/>
        </p:nvSpPr>
        <p:spPr>
          <a:xfrm>
            <a:off x="5125655" y="3123119"/>
            <a:ext cx="1770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it-IT" sz="2400" dirty="0" err="1"/>
              <a:t>PyTorch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035100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B5D11-8B39-2693-F80E-BFB171FDE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8F66E0-2AD6-7FE7-151D-09B154AAA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/>
              <a:t>Policy </a:t>
            </a:r>
            <a:r>
              <a:rPr lang="it-IT" b="1" dirty="0" err="1"/>
              <a:t>Optimization</a:t>
            </a:r>
            <a:endParaRPr lang="it-IT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9D6F48A-5395-40E5-0A63-E871C11851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64996"/>
                <a:ext cx="10515600" cy="38930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b="1" u="sng" dirty="0"/>
                  <a:t>Goal</a:t>
                </a:r>
                <a:r>
                  <a:rPr lang="it-IT" dirty="0"/>
                  <a:t>: to  determine the policy </a:t>
                </a:r>
                <a:r>
                  <a:rPr lang="it-IT" b="1" dirty="0" err="1"/>
                  <a:t>parameters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</a:t>
                </a:r>
                <a:r>
                  <a:rPr lang="it-IT" dirty="0" err="1"/>
                  <a:t>maximize</a:t>
                </a:r>
                <a:r>
                  <a:rPr lang="it-IT" dirty="0"/>
                  <a:t> the 	</a:t>
                </a:r>
                <a:r>
                  <a:rPr lang="it-IT" dirty="0" err="1"/>
                  <a:t>robustness</a:t>
                </a:r>
                <a:r>
                  <a:rPr lang="it-IT" dirty="0"/>
                  <a:t> of the </a:t>
                </a:r>
                <a:r>
                  <a:rPr lang="it-IT" b="1" dirty="0"/>
                  <a:t>STREL</a:t>
                </a:r>
                <a:r>
                  <a:rPr lang="it-IT" dirty="0"/>
                  <a:t> </a:t>
                </a:r>
                <a:r>
                  <a:rPr lang="it-IT" dirty="0" err="1"/>
                  <a:t>specification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it-IT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over the </a:t>
                </a:r>
                <a:r>
                  <a:rPr lang="it-IT" dirty="0" err="1"/>
                  <a:t>trajectories</a:t>
                </a:r>
                <a:r>
                  <a:rPr lang="it-IT" dirty="0"/>
                  <a:t> 	</a:t>
                </a:r>
                <a:r>
                  <a:rPr lang="it-IT" dirty="0" err="1"/>
                  <a:t>induced</a:t>
                </a:r>
                <a:r>
                  <a:rPr lang="it-IT" dirty="0"/>
                  <a:t> by the policy: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1" i="0" smtClean="0">
                          <a:latin typeface="Cambria Math" panose="02040503050406030204" pitchFamily="18" charset="0"/>
                        </a:rPr>
                        <m:t>𝐚𝐫𝐠</m:t>
                      </m:r>
                      <m:func>
                        <m:func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it-IT" b="1" i="0" smtClean="0"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e>
                            <m:lim>
                              <m:r>
                                <a:rPr lang="it-IT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it-IT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  <m:d>
                            <m:dPr>
                              <m:ctrlPr>
                                <a:rPr lang="it-IT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r>
                                <a:rPr lang="it-IT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it-IT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b>
                                  <m:r>
                                    <a:rPr lang="it-IT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it-IT" b="1" dirty="0"/>
              </a:p>
              <a:p>
                <a:pPr marL="0" indent="0">
                  <a:buNone/>
                </a:pPr>
                <a:endParaRPr lang="it-IT" sz="2400" dirty="0"/>
              </a:p>
              <a:p>
                <a:pPr marL="0" indent="0">
                  <a:buNone/>
                </a:pPr>
                <a:endParaRPr lang="it-IT" sz="24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9D6F48A-5395-40E5-0A63-E871C1185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64996"/>
                <a:ext cx="10515600" cy="3893004"/>
              </a:xfrm>
              <a:blipFill>
                <a:blip r:embed="rId3"/>
                <a:stretch>
                  <a:fillRect l="-1206" t="-26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45A122E0-ABC9-4149-5A1A-59EC88DF91CD}"/>
                  </a:ext>
                </a:extLst>
              </p:cNvPr>
              <p:cNvSpPr txBox="1"/>
              <p:nvPr/>
            </p:nvSpPr>
            <p:spPr>
              <a:xfrm>
                <a:off x="2037772" y="5715768"/>
                <a:ext cx="10307783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400" b="1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  <m:d>
                      <m:dPr>
                        <m:ctrlPr>
                          <a:rPr lang="it-IT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r>
                          <a:rPr lang="it-IT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it-IT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2400" dirty="0">
                    <a:solidFill>
                      <a:schemeClr val="accent3"/>
                    </a:solidFill>
                  </a:rPr>
                  <a:t>:  quantitative </a:t>
                </a:r>
                <a:r>
                  <a:rPr lang="it-IT" sz="2400" dirty="0" err="1">
                    <a:solidFill>
                      <a:schemeClr val="accent3"/>
                    </a:solidFill>
                  </a:rPr>
                  <a:t>robustness</a:t>
                </a:r>
                <a:r>
                  <a:rPr lang="it-IT" sz="2400" dirty="0">
                    <a:solidFill>
                      <a:schemeClr val="accent3"/>
                    </a:solidFill>
                  </a:rPr>
                  <a:t> of </a:t>
                </a:r>
                <a:r>
                  <a:rPr lang="it-IT" sz="2400" dirty="0" err="1">
                    <a:solidFill>
                      <a:schemeClr val="accent3"/>
                    </a:solidFill>
                  </a:rPr>
                  <a:t>trajectory</a:t>
                </a:r>
                <a:r>
                  <a:rPr lang="it-IT" sz="2400" dirty="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240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l-GR" sz="2400" dirty="0">
                    <a:solidFill>
                      <a:schemeClr val="accent3"/>
                    </a:solidFill>
                  </a:rPr>
                  <a:t> </a:t>
                </a:r>
                <a:r>
                  <a:rPr lang="it-IT" sz="2400" dirty="0">
                    <a:solidFill>
                      <a:schemeClr val="accent3"/>
                    </a:solidFill>
                  </a:rPr>
                  <a:t>with </a:t>
                </a:r>
                <a:r>
                  <a:rPr lang="it-IT" sz="2400" dirty="0" err="1">
                    <a:solidFill>
                      <a:schemeClr val="accent3"/>
                    </a:solidFill>
                  </a:rPr>
                  <a:t>respect</a:t>
                </a:r>
                <a:r>
                  <a:rPr lang="it-IT" sz="2400" dirty="0">
                    <a:solidFill>
                      <a:schemeClr val="accent3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it-IT" sz="2400" b="0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endParaRPr lang="it-IT" sz="2400" dirty="0">
                  <a:solidFill>
                    <a:schemeClr val="accent3"/>
                  </a:solidFill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45A122E0-ABC9-4149-5A1A-59EC88DF9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772" y="5715768"/>
                <a:ext cx="10307783" cy="738664"/>
              </a:xfrm>
              <a:prstGeom prst="rect">
                <a:avLst/>
              </a:prstGeom>
              <a:blipFill>
                <a:blip r:embed="rId5"/>
                <a:stretch>
                  <a:fillRect l="-246" t="-67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ttore diritto a freccia 7">
            <a:extLst>
              <a:ext uri="{FF2B5EF4-FFF2-40B4-BE49-F238E27FC236}">
                <a16:creationId xmlns:a16="http://schemas.microsoft.com/office/drawing/2014/main" id="{D9056DE4-5E73-8160-9D56-D996B3FB2DBE}"/>
              </a:ext>
            </a:extLst>
          </p:cNvPr>
          <p:cNvCxnSpPr>
            <a:cxnSpLocks/>
          </p:cNvCxnSpPr>
          <p:nvPr/>
        </p:nvCxnSpPr>
        <p:spPr>
          <a:xfrm>
            <a:off x="7038686" y="5173650"/>
            <a:ext cx="0" cy="4823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8B0077A-57F0-06A1-72CE-CD19A018FDD5}"/>
              </a:ext>
            </a:extLst>
          </p:cNvPr>
          <p:cNvSpPr txBox="1"/>
          <p:nvPr/>
        </p:nvSpPr>
        <p:spPr>
          <a:xfrm>
            <a:off x="1707969" y="1928074"/>
            <a:ext cx="87760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CSTREL for task </a:t>
            </a:r>
            <a:r>
              <a:rPr lang="it-IT" sz="2800" dirty="0" err="1"/>
              <a:t>specification</a:t>
            </a:r>
            <a:r>
              <a:rPr lang="it-IT" sz="2800" dirty="0"/>
              <a:t>            Policy </a:t>
            </a:r>
            <a:r>
              <a:rPr lang="it-IT" sz="2800" dirty="0" err="1"/>
              <a:t>Optimization</a:t>
            </a:r>
            <a:endParaRPr lang="it-IT" sz="2800" dirty="0"/>
          </a:p>
        </p:txBody>
      </p:sp>
      <p:sp>
        <p:nvSpPr>
          <p:cNvPr id="13" name="Freccia destra 12">
            <a:extLst>
              <a:ext uri="{FF2B5EF4-FFF2-40B4-BE49-F238E27FC236}">
                <a16:creationId xmlns:a16="http://schemas.microsoft.com/office/drawing/2014/main" id="{FA03C48D-EF34-0A8B-1A40-69A6862CF1BD}"/>
              </a:ext>
            </a:extLst>
          </p:cNvPr>
          <p:cNvSpPr/>
          <p:nvPr/>
        </p:nvSpPr>
        <p:spPr>
          <a:xfrm>
            <a:off x="6512213" y="2071477"/>
            <a:ext cx="495300" cy="26161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E31538C-4A50-BAB9-39BF-09001405E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5</a:t>
            </a:fld>
            <a:endParaRPr lang="it-IT"/>
          </a:p>
        </p:txBody>
      </p:sp>
      <p:pic>
        <p:nvPicPr>
          <p:cNvPr id="7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5CF6369F-DF8E-2198-7660-B7D075262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776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E869B-F66D-366E-A9A8-045DE57C7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C024A9-9350-D7DB-0F01-62F5D0F0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 err="1"/>
              <a:t>Reward</a:t>
            </a:r>
            <a:r>
              <a:rPr lang="it-IT" b="1" dirty="0"/>
              <a:t> Shaping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59AEA8B-0E6A-3B61-5B86-AD353D3EA9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4056"/>
                <a:ext cx="10515600" cy="98471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  <m:d>
                        <m:dPr>
                          <m:ctrlPr>
                            <a:rPr lang="it-IT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it-IT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it-IT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lang="it-IT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it-IT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p>
                        <m:e>
                          <m:d>
                            <m:dPr>
                              <m:ctrlPr>
                                <a:rPr lang="it-IT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sz="3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3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it-IT" sz="3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it-IT" sz="3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it-IT" sz="3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it-IT" sz="3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sz="3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it-IT" sz="3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it-IT" sz="3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it-IT" sz="3600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a:rPr lang="it-IT" sz="3600" b="1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𝐦𝐢𝐧</m:t>
                                          </m:r>
                                        </m:e>
                                        <m:lim>
                                          <m:r>
                                            <a:rPr lang="it-IT" sz="3600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  <m:r>
                                            <a:rPr lang="it-IT" sz="3600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lang="it-IT" sz="3600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𝑫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it-IT" sz="3600" b="1" i="1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600" b="1" i="1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𝝆</m:t>
                                          </m:r>
                                        </m:e>
                                        <m:sub>
                                          <m:r>
                                            <a:rPr lang="it-IT" sz="3600" b="1" i="1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  <m:r>
                                            <a:rPr lang="it-IT" sz="3600" b="1" i="1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it-IT" sz="3600" b="1" i="1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  <m:r>
                                            <a:rPr lang="it-IT" sz="3600" b="1" i="1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it-IT" sz="3600" b="1" i="1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𝒕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nary>
                            </m:e>
                          </m:d>
                          <m:r>
                            <a:rPr lang="it-IT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3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3600" b="0" i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reg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it-IT" sz="3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3600" b="0" i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reg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it-IT" sz="36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59AEA8B-0E6A-3B61-5B86-AD353D3EA9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4056"/>
                <a:ext cx="10515600" cy="984710"/>
              </a:xfrm>
              <a:blipFill>
                <a:blip r:embed="rId3"/>
                <a:stretch>
                  <a:fillRect t="-188462" b="-3320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0707935B-2C10-351F-A22F-70A26E71F7EB}"/>
                  </a:ext>
                </a:extLst>
              </p:cNvPr>
              <p:cNvSpPr txBox="1"/>
              <p:nvPr/>
            </p:nvSpPr>
            <p:spPr>
              <a:xfrm>
                <a:off x="3997150" y="3839097"/>
                <a:ext cx="4613450" cy="11228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l-GR" sz="2200" b="0" i="0" dirty="0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 </a:t>
                </a:r>
                <a:r>
                  <a:rPr lang="it-IT" sz="2200" b="1" dirty="0">
                    <a:solidFill>
                      <a:schemeClr val="accent2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it-IT" sz="22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  <m:r>
                          <a:rPr lang="it-IT" sz="22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it-IT" sz="22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  <m:r>
                          <a:rPr lang="it-IT" sz="22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it-IT" sz="22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it-IT" sz="22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200" b="0" i="0" dirty="0" err="1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is</a:t>
                </a:r>
                <a:r>
                  <a:rPr lang="it-IT" sz="2200" b="0" i="0" dirty="0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 the quantitative </a:t>
                </a:r>
                <a:r>
                  <a:rPr lang="it-IT" sz="2200" b="0" i="0" dirty="0" err="1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robustness</a:t>
                </a:r>
                <a:r>
                  <a:rPr lang="it-IT" sz="2200" b="0" i="0" dirty="0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 of an agent </a:t>
                </a:r>
                <a14:m>
                  <m:oMath xmlns:m="http://schemas.openxmlformats.org/officeDocument/2006/math">
                    <m:r>
                      <a:rPr lang="it-IT" sz="2200" b="0" i="1" smtClean="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it-IT" sz="2200" b="0" i="0" dirty="0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it-IT" sz="2200" b="0" i="1" smtClean="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it-IT" sz="2200" b="0" i="0" dirty="0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 is the set of agents) at time </a:t>
                </a:r>
                <a14:m>
                  <m:oMath xmlns:m="http://schemas.openxmlformats.org/officeDocument/2006/math">
                    <m:r>
                      <a:rPr lang="it-IT" sz="2200" b="0" i="1" smtClean="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it-IT" sz="2200" b="0" i="0" dirty="0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 in </a:t>
                </a:r>
                <a:r>
                  <a:rPr lang="it-IT" sz="2200" b="0" i="0" dirty="0" err="1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environment</a:t>
                </a:r>
                <a:r>
                  <a:rPr lang="it-IT" sz="2200" b="0" i="0" dirty="0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b="0" i="1" smtClean="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it-IT" sz="2200" dirty="0">
                  <a:solidFill>
                    <a:schemeClr val="accent2"/>
                  </a:solidFill>
                  <a:effectLst/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0707935B-2C10-351F-A22F-70A26E71F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150" y="3839097"/>
                <a:ext cx="4613450" cy="1122808"/>
              </a:xfrm>
              <a:prstGeom prst="rect">
                <a:avLst/>
              </a:prstGeom>
              <a:blipFill>
                <a:blip r:embed="rId4"/>
                <a:stretch>
                  <a:fillRect l="-1644" t="-2247" r="-1370" b="-101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956F4E6-5539-0DF3-7A0F-CF958E551206}"/>
              </a:ext>
            </a:extLst>
          </p:cNvPr>
          <p:cNvSpPr txBox="1"/>
          <p:nvPr/>
        </p:nvSpPr>
        <p:spPr>
          <a:xfrm>
            <a:off x="1175851" y="5248272"/>
            <a:ext cx="10277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sz="2400" dirty="0" err="1">
                <a:latin typeface="Helvetica" pitchFamily="2" charset="0"/>
              </a:rPr>
              <a:t>M</a:t>
            </a:r>
            <a:r>
              <a:rPr lang="it-IT" sz="2400" b="0" i="0" dirty="0" err="1">
                <a:effectLst/>
                <a:latin typeface="Helvetica" pitchFamily="2" charset="0"/>
              </a:rPr>
              <a:t>inimizing</a:t>
            </a:r>
            <a:r>
              <a:rPr lang="it-IT" sz="2400" b="0" i="0" dirty="0">
                <a:effectLst/>
                <a:latin typeface="Helvetica" pitchFamily="2" charset="0"/>
              </a:rPr>
              <a:t> </a:t>
            </a:r>
            <a:r>
              <a:rPr lang="it-IT" sz="2400" b="0" i="0" dirty="0" err="1">
                <a:effectLst/>
                <a:latin typeface="Helvetica" pitchFamily="2" charset="0"/>
              </a:rPr>
              <a:t>this</a:t>
            </a:r>
            <a:r>
              <a:rPr lang="it-IT" sz="2400" b="0" i="0" dirty="0">
                <a:effectLst/>
                <a:latin typeface="Helvetica" pitchFamily="2" charset="0"/>
              </a:rPr>
              <a:t> </a:t>
            </a:r>
            <a:r>
              <a:rPr lang="it-IT" sz="2400" b="0" i="0" dirty="0" err="1">
                <a:effectLst/>
                <a:latin typeface="Helvetica" pitchFamily="2" charset="0"/>
              </a:rPr>
              <a:t>term</a:t>
            </a:r>
            <a:r>
              <a:rPr lang="it-IT" sz="2400" b="0" i="0" dirty="0">
                <a:effectLst/>
                <a:latin typeface="Helvetica" pitchFamily="2" charset="0"/>
              </a:rPr>
              <a:t> </a:t>
            </a:r>
            <a:r>
              <a:rPr lang="it-IT" sz="2400" b="0" i="0" dirty="0" err="1">
                <a:effectLst/>
                <a:latin typeface="Helvetica" pitchFamily="2" charset="0"/>
              </a:rPr>
              <a:t>is</a:t>
            </a:r>
            <a:r>
              <a:rPr lang="it-IT" sz="2400" b="0" i="0" dirty="0">
                <a:effectLst/>
                <a:latin typeface="Helvetica" pitchFamily="2" charset="0"/>
              </a:rPr>
              <a:t> </a:t>
            </a:r>
            <a:r>
              <a:rPr lang="it-IT" sz="2400" b="0" i="0" dirty="0" err="1">
                <a:effectLst/>
                <a:latin typeface="Helvetica" pitchFamily="2" charset="0"/>
              </a:rPr>
              <a:t>equivalent</a:t>
            </a:r>
            <a:r>
              <a:rPr lang="it-IT" sz="2400" b="0" i="0" dirty="0">
                <a:effectLst/>
                <a:latin typeface="Helvetica" pitchFamily="2" charset="0"/>
              </a:rPr>
              <a:t> to </a:t>
            </a:r>
            <a:r>
              <a:rPr lang="it-IT" sz="2400" b="1" i="0" dirty="0" err="1">
                <a:effectLst/>
                <a:latin typeface="Helvetica" pitchFamily="2" charset="0"/>
              </a:rPr>
              <a:t>maximizing</a:t>
            </a:r>
            <a:r>
              <a:rPr lang="it-IT" sz="2400" b="1" i="0" dirty="0">
                <a:effectLst/>
                <a:latin typeface="Helvetica" pitchFamily="2" charset="0"/>
              </a:rPr>
              <a:t> the STREL </a:t>
            </a:r>
            <a:r>
              <a:rPr lang="it-IT" sz="2400" b="1" i="0" dirty="0" err="1">
                <a:effectLst/>
                <a:latin typeface="Helvetica" pitchFamily="2" charset="0"/>
              </a:rPr>
              <a:t>robustness</a:t>
            </a:r>
            <a:endParaRPr lang="it-IT" sz="2400" b="1" dirty="0">
              <a:latin typeface="Helvetica" pitchFamily="2" charset="0"/>
            </a:endParaRPr>
          </a:p>
          <a:p>
            <a:pPr algn="ctr">
              <a:buNone/>
            </a:pPr>
            <a:endParaRPr lang="it-IT" sz="2400" b="0" i="0" dirty="0">
              <a:solidFill>
                <a:schemeClr val="accent2"/>
              </a:solidFill>
              <a:effectLst/>
              <a:latin typeface="Helvetica" pitchFamily="2" charset="0"/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3A399CE-F5CA-FA72-7DD6-849F143D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6</a:t>
            </a:fld>
            <a:endParaRPr lang="it-IT"/>
          </a:p>
        </p:txBody>
      </p:sp>
      <p:pic>
        <p:nvPicPr>
          <p:cNvPr id="6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773DEE08-A502-28C2-F8C4-670D59E0F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ttore diritto a freccia 6">
            <a:extLst>
              <a:ext uri="{FF2B5EF4-FFF2-40B4-BE49-F238E27FC236}">
                <a16:creationId xmlns:a16="http://schemas.microsoft.com/office/drawing/2014/main" id="{9D457C22-8976-860F-A3DA-11778A51DE03}"/>
              </a:ext>
            </a:extLst>
          </p:cNvPr>
          <p:cNvCxnSpPr>
            <a:cxnSpLocks/>
          </p:cNvCxnSpPr>
          <p:nvPr/>
        </p:nvCxnSpPr>
        <p:spPr>
          <a:xfrm>
            <a:off x="7194755" y="3146938"/>
            <a:ext cx="0" cy="564124"/>
          </a:xfrm>
          <a:prstGeom prst="straightConnector1">
            <a:avLst/>
          </a:prstGeom>
          <a:ln w="508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A5B9ADF-E630-3F2A-BB10-31810118AE2A}"/>
              </a:ext>
            </a:extLst>
          </p:cNvPr>
          <p:cNvSpPr txBox="1"/>
          <p:nvPr/>
        </p:nvSpPr>
        <p:spPr>
          <a:xfrm>
            <a:off x="8297466" y="2922134"/>
            <a:ext cx="2953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200" b="0" i="0" dirty="0" err="1">
                <a:solidFill>
                  <a:schemeClr val="accent3"/>
                </a:solidFill>
                <a:effectLst/>
                <a:latin typeface="Helvetica" pitchFamily="2" charset="0"/>
              </a:rPr>
              <a:t>Regularization</a:t>
            </a:r>
            <a:r>
              <a:rPr lang="it-IT" sz="2200" b="0" i="0" dirty="0">
                <a:solidFill>
                  <a:schemeClr val="accent3"/>
                </a:solidFill>
                <a:effectLst/>
                <a:latin typeface="Helvetica" pitchFamily="2" charset="0"/>
              </a:rPr>
              <a:t> </a:t>
            </a:r>
            <a:r>
              <a:rPr lang="it-IT" sz="2200" b="0" i="0" dirty="0" err="1">
                <a:solidFill>
                  <a:schemeClr val="accent3"/>
                </a:solidFill>
                <a:effectLst/>
                <a:latin typeface="Helvetica" pitchFamily="2" charset="0"/>
              </a:rPr>
              <a:t>term</a:t>
            </a:r>
            <a:r>
              <a:rPr lang="it-IT" sz="2200" b="0" i="0" dirty="0">
                <a:solidFill>
                  <a:schemeClr val="accent3"/>
                </a:solidFill>
                <a:effectLst/>
                <a:latin typeface="Helvetica" pitchFamily="2" charset="0"/>
              </a:rPr>
              <a:t> on actions</a:t>
            </a:r>
            <a:endParaRPr lang="it-IT" sz="2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8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FB0D-D7DD-8502-9606-324A870EF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1F64F-BA13-C195-F3D8-63EE03242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 err="1"/>
              <a:t>Experimentals</a:t>
            </a:r>
            <a:r>
              <a:rPr lang="it-IT" b="1" dirty="0"/>
              <a:t>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7900D42-F4E5-C8D6-C731-ED0DED736A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41921"/>
                <a:ext cx="10515600" cy="301829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t-IT" sz="2400" b="1" dirty="0"/>
                  <a:t>Graph </a:t>
                </a:r>
                <a:r>
                  <a:rPr lang="it-IT" sz="2400" b="1" dirty="0" err="1"/>
                  <a:t>Structure</a:t>
                </a:r>
                <a:r>
                  <a:rPr lang="it-IT" sz="2400" dirty="0"/>
                  <a:t>:</a:t>
                </a:r>
              </a:p>
              <a:p>
                <a:pPr marL="0" indent="0">
                  <a:buNone/>
                </a:pPr>
                <a:r>
                  <a:rPr lang="it-IT" sz="2400" dirty="0"/>
                  <a:t>The </a:t>
                </a:r>
                <a:r>
                  <a:rPr lang="it-IT" sz="2400" dirty="0" err="1"/>
                  <a:t>environment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represented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as</a:t>
                </a:r>
                <a:r>
                  <a:rPr lang="it-IT" sz="2400" dirty="0"/>
                  <a:t> a </a:t>
                </a:r>
                <a:r>
                  <a:rPr lang="it-IT" sz="2400" b="1" dirty="0" err="1"/>
                  <a:t>fully-connected</a:t>
                </a:r>
                <a:r>
                  <a:rPr lang="it-IT" sz="2400" b="1" dirty="0"/>
                  <a:t> </a:t>
                </a:r>
                <a:r>
                  <a:rPr lang="it-IT" sz="2400" b="1" dirty="0" err="1"/>
                  <a:t>graph</a:t>
                </a:r>
                <a:r>
                  <a:rPr lang="it-IT" sz="2400" b="1" dirty="0"/>
                  <a:t> </a:t>
                </a:r>
              </a:p>
              <a:p>
                <a:r>
                  <a:rPr lang="it-IT" sz="2400" dirty="0" err="1"/>
                  <a:t>each</a:t>
                </a:r>
                <a:r>
                  <a:rPr lang="it-IT" sz="2400" dirty="0"/>
                  <a:t> </a:t>
                </a:r>
                <a:r>
                  <a:rPr lang="it-IT" sz="2400" dirty="0" err="1"/>
                  <a:t>edge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weighted</a:t>
                </a:r>
                <a:r>
                  <a:rPr lang="it-IT" sz="2400" dirty="0"/>
                  <a:t> by </a:t>
                </a:r>
                <a:r>
                  <a:rPr lang="it-IT" sz="2400" i="1" dirty="0" err="1"/>
                  <a:t>Euclidean</a:t>
                </a:r>
                <a:r>
                  <a:rPr lang="it-IT" sz="2400" i="1" dirty="0"/>
                  <a:t> </a:t>
                </a:r>
                <a:r>
                  <a:rPr lang="it-IT" sz="2400" i="1" dirty="0" err="1"/>
                  <a:t>distance</a:t>
                </a:r>
                <a:endParaRPr lang="it-IT" sz="2400" i="1" dirty="0"/>
              </a:p>
              <a:p>
                <a:r>
                  <a:rPr lang="it-IT" sz="2400" dirty="0" err="1"/>
                  <a:t>each</a:t>
                </a:r>
                <a:r>
                  <a:rPr lang="it-IT" sz="2400" dirty="0"/>
                  <a:t> </a:t>
                </a:r>
                <a:r>
                  <a:rPr lang="it-IT" sz="2400" dirty="0" err="1"/>
                  <a:t>node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described</a:t>
                </a:r>
                <a:r>
                  <a:rPr lang="it-IT" sz="2400" dirty="0"/>
                  <a:t> by a 6-dimensions </a:t>
                </a:r>
                <a:r>
                  <a:rPr lang="it-IT" sz="2400" i="1" dirty="0"/>
                  <a:t>feature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vector</a:t>
                </a:r>
                <a:r>
                  <a:rPr lang="it-IT" sz="2400" dirty="0"/>
                  <a:t>: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endParaRPr lang="it-IT" sz="2400" i="1" dirty="0"/>
              </a:p>
              <a:p>
                <a:pPr marL="0" indent="0">
                  <a:buNone/>
                </a:pPr>
                <a:r>
                  <a:rPr lang="it-IT" sz="2400" dirty="0"/>
                  <a:t>	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7900D42-F4E5-C8D6-C731-ED0DED736A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41921"/>
                <a:ext cx="10515600" cy="3018298"/>
              </a:xfrm>
              <a:blipFill>
                <a:blip r:embed="rId2"/>
                <a:stretch>
                  <a:fillRect l="-965" t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39B8AD88-F328-067F-1F34-28163A79C04E}"/>
              </a:ext>
            </a:extLst>
          </p:cNvPr>
          <p:cNvSpPr/>
          <p:nvPr/>
        </p:nvSpPr>
        <p:spPr>
          <a:xfrm>
            <a:off x="838200" y="1509486"/>
            <a:ext cx="10515600" cy="849653"/>
          </a:xfrm>
          <a:prstGeom prst="roundRect">
            <a:avLst/>
          </a:prstGeom>
          <a:solidFill>
            <a:srgbClr val="ECE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tx1"/>
                </a:solidFill>
              </a:rPr>
              <a:t>A group of </a:t>
            </a:r>
            <a:r>
              <a:rPr lang="it-IT" sz="2400" dirty="0" err="1">
                <a:solidFill>
                  <a:schemeClr val="tx1"/>
                </a:solidFill>
              </a:rPr>
              <a:t>simulated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battery-powered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b="1" dirty="0" err="1">
                <a:solidFill>
                  <a:schemeClr val="tx1"/>
                </a:solidFill>
              </a:rPr>
              <a:t>drones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navigates</a:t>
            </a:r>
            <a:r>
              <a:rPr lang="it-IT" sz="2400" dirty="0">
                <a:solidFill>
                  <a:schemeClr val="tx1"/>
                </a:solidFill>
              </a:rPr>
              <a:t> in an area and </a:t>
            </a:r>
            <a:r>
              <a:rPr lang="it-IT" sz="2400" dirty="0" err="1">
                <a:solidFill>
                  <a:schemeClr val="tx1"/>
                </a:solidFill>
              </a:rPr>
              <a:t>need</a:t>
            </a:r>
            <a:r>
              <a:rPr lang="it-IT" sz="2400" dirty="0">
                <a:solidFill>
                  <a:schemeClr val="tx1"/>
                </a:solidFill>
              </a:rPr>
              <a:t> to </a:t>
            </a:r>
            <a:r>
              <a:rPr lang="it-IT" sz="2400" dirty="0" err="1">
                <a:solidFill>
                  <a:schemeClr val="tx1"/>
                </a:solidFill>
              </a:rPr>
              <a:t>accomplish</a:t>
            </a:r>
            <a:r>
              <a:rPr lang="it-IT" sz="2400" dirty="0">
                <a:solidFill>
                  <a:schemeClr val="tx1"/>
                </a:solidFill>
              </a:rPr>
              <a:t> some </a:t>
            </a:r>
            <a:r>
              <a:rPr lang="it-IT" sz="2400" dirty="0" err="1">
                <a:solidFill>
                  <a:schemeClr val="tx1"/>
                </a:solidFill>
              </a:rPr>
              <a:t>specific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b="1" dirty="0">
                <a:solidFill>
                  <a:schemeClr val="tx1"/>
                </a:solidFill>
              </a:rPr>
              <a:t>tasks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endParaRPr lang="it-IT" sz="2000" dirty="0">
              <a:solidFill>
                <a:schemeClr val="tx1"/>
              </a:solidFill>
            </a:endParaRPr>
          </a:p>
        </p:txBody>
      </p:sp>
      <p:pic>
        <p:nvPicPr>
          <p:cNvPr id="5122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1A992FB2-5A87-337F-E458-972ADF1213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10172065" y="1909954"/>
            <a:ext cx="2019935" cy="110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09B233B8-359F-FD28-AB85-0B8542088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-59553" y="707346"/>
            <a:ext cx="1795505" cy="98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arentesi graffa chiusa 7">
            <a:extLst>
              <a:ext uri="{FF2B5EF4-FFF2-40B4-BE49-F238E27FC236}">
                <a16:creationId xmlns:a16="http://schemas.microsoft.com/office/drawing/2014/main" id="{F614F3FE-9795-A78E-4D04-D9D700DC5332}"/>
              </a:ext>
            </a:extLst>
          </p:cNvPr>
          <p:cNvSpPr/>
          <p:nvPr/>
        </p:nvSpPr>
        <p:spPr>
          <a:xfrm rot="5400000">
            <a:off x="9348281" y="4212077"/>
            <a:ext cx="175098" cy="505839"/>
          </a:xfrm>
          <a:prstGeom prst="rightBrace">
            <a:avLst/>
          </a:prstGeom>
          <a:ln w="50800">
            <a:solidFill>
              <a:srgbClr val="ECE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FC17460-628F-65DF-A4CB-06E34B9C8784}"/>
              </a:ext>
            </a:extLst>
          </p:cNvPr>
          <p:cNvSpPr txBox="1"/>
          <p:nvPr/>
        </p:nvSpPr>
        <p:spPr>
          <a:xfrm>
            <a:off x="8640595" y="4596751"/>
            <a:ext cx="1590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n</a:t>
            </a:r>
            <a:r>
              <a:rPr lang="it-IT" sz="1800" dirty="0" err="1"/>
              <a:t>ode</a:t>
            </a:r>
            <a:r>
              <a:rPr lang="it-IT" sz="1800" dirty="0"/>
              <a:t> position</a:t>
            </a:r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01305E1-5161-E849-94A7-681053CC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7</a:t>
            </a:fld>
            <a:endParaRPr lang="it-IT"/>
          </a:p>
        </p:txBody>
      </p:sp>
      <p:pic>
        <p:nvPicPr>
          <p:cNvPr id="9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73A0A874-3A30-9956-DCD1-32AB0E5DD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80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D2135-60A0-2E1E-84D9-99C321FD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5ACBBF-3F01-3958-F8AD-3DE2890B7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 err="1"/>
              <a:t>Experimentals</a:t>
            </a:r>
            <a:r>
              <a:rPr lang="it-IT" b="1" dirty="0"/>
              <a:t>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E86CBFE-F6D9-0B87-617B-039279AB9D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41921"/>
                <a:ext cx="10515600" cy="301829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t-IT" sz="2400" b="1" dirty="0"/>
                  <a:t>Graph </a:t>
                </a:r>
                <a:r>
                  <a:rPr lang="it-IT" sz="2400" b="1" dirty="0" err="1"/>
                  <a:t>Structure</a:t>
                </a:r>
                <a:r>
                  <a:rPr lang="it-IT" sz="2400" dirty="0"/>
                  <a:t>:</a:t>
                </a:r>
              </a:p>
              <a:p>
                <a:pPr marL="0" indent="0">
                  <a:buNone/>
                </a:pPr>
                <a:r>
                  <a:rPr lang="it-IT" sz="2400" dirty="0"/>
                  <a:t>The </a:t>
                </a:r>
                <a:r>
                  <a:rPr lang="it-IT" sz="2400" dirty="0" err="1"/>
                  <a:t>environment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represented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as</a:t>
                </a:r>
                <a:r>
                  <a:rPr lang="it-IT" sz="2400" dirty="0"/>
                  <a:t> a </a:t>
                </a:r>
                <a:r>
                  <a:rPr lang="it-IT" sz="2400" b="1" dirty="0" err="1"/>
                  <a:t>fully-connected</a:t>
                </a:r>
                <a:r>
                  <a:rPr lang="it-IT" sz="2400" b="1" dirty="0"/>
                  <a:t> </a:t>
                </a:r>
                <a:r>
                  <a:rPr lang="it-IT" sz="2400" b="1" dirty="0" err="1"/>
                  <a:t>graph</a:t>
                </a:r>
                <a:r>
                  <a:rPr lang="it-IT" sz="2400" b="1" dirty="0"/>
                  <a:t> </a:t>
                </a:r>
              </a:p>
              <a:p>
                <a:r>
                  <a:rPr lang="it-IT" sz="2400" dirty="0" err="1"/>
                  <a:t>each</a:t>
                </a:r>
                <a:r>
                  <a:rPr lang="it-IT" sz="2400" dirty="0"/>
                  <a:t> </a:t>
                </a:r>
                <a:r>
                  <a:rPr lang="it-IT" sz="2400" dirty="0" err="1"/>
                  <a:t>edge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weighted</a:t>
                </a:r>
                <a:r>
                  <a:rPr lang="it-IT" sz="2400" dirty="0"/>
                  <a:t> by </a:t>
                </a:r>
                <a:r>
                  <a:rPr lang="it-IT" sz="2400" i="1" dirty="0" err="1"/>
                  <a:t>Euclidean</a:t>
                </a:r>
                <a:r>
                  <a:rPr lang="it-IT" sz="2400" i="1" dirty="0"/>
                  <a:t> </a:t>
                </a:r>
                <a:r>
                  <a:rPr lang="it-IT" sz="2400" i="1" dirty="0" err="1"/>
                  <a:t>distance</a:t>
                </a:r>
                <a:endParaRPr lang="it-IT" sz="2400" i="1" dirty="0"/>
              </a:p>
              <a:p>
                <a:r>
                  <a:rPr lang="it-IT" sz="2400" dirty="0" err="1"/>
                  <a:t>each</a:t>
                </a:r>
                <a:r>
                  <a:rPr lang="it-IT" sz="2400" dirty="0"/>
                  <a:t> </a:t>
                </a:r>
                <a:r>
                  <a:rPr lang="it-IT" sz="2400" dirty="0" err="1"/>
                  <a:t>node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described</a:t>
                </a:r>
                <a:r>
                  <a:rPr lang="it-IT" sz="2400" dirty="0"/>
                  <a:t> by a 6-dimensions </a:t>
                </a:r>
                <a:r>
                  <a:rPr lang="it-IT" sz="2400" i="1" dirty="0"/>
                  <a:t>feature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vector</a:t>
                </a:r>
                <a:r>
                  <a:rPr lang="it-IT" sz="2400" dirty="0"/>
                  <a:t>: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endParaRPr lang="it-IT" sz="2400" i="1" dirty="0"/>
              </a:p>
              <a:p>
                <a:pPr marL="0" indent="0">
                  <a:buNone/>
                </a:pPr>
                <a:r>
                  <a:rPr lang="it-IT" sz="2400" dirty="0"/>
                  <a:t>	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E86CBFE-F6D9-0B87-617B-039279AB9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41921"/>
                <a:ext cx="10515600" cy="3018298"/>
              </a:xfrm>
              <a:blipFill>
                <a:blip r:embed="rId2"/>
                <a:stretch>
                  <a:fillRect l="-965" t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graffa chiusa 7">
            <a:extLst>
              <a:ext uri="{FF2B5EF4-FFF2-40B4-BE49-F238E27FC236}">
                <a16:creationId xmlns:a16="http://schemas.microsoft.com/office/drawing/2014/main" id="{6EC3CD0E-B6C6-D66E-AF20-5436B2E977DB}"/>
              </a:ext>
            </a:extLst>
          </p:cNvPr>
          <p:cNvSpPr/>
          <p:nvPr/>
        </p:nvSpPr>
        <p:spPr>
          <a:xfrm rot="5400000">
            <a:off x="10093897" y="4175050"/>
            <a:ext cx="175099" cy="668305"/>
          </a:xfrm>
          <a:prstGeom prst="rightBrace">
            <a:avLst/>
          </a:prstGeom>
          <a:ln w="50800">
            <a:solidFill>
              <a:srgbClr val="ECE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6F89D0C-4E39-FBCD-798C-1E2AA65990F9}"/>
              </a:ext>
            </a:extLst>
          </p:cNvPr>
          <p:cNvSpPr txBox="1"/>
          <p:nvPr/>
        </p:nvSpPr>
        <p:spPr>
          <a:xfrm>
            <a:off x="9720364" y="4611776"/>
            <a:ext cx="1590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velocity</a:t>
            </a:r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807E68C-466D-1EA0-D1D1-655B68AC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8</a:t>
            </a:fld>
            <a:endParaRPr lang="it-IT"/>
          </a:p>
        </p:txBody>
      </p:sp>
      <p:pic>
        <p:nvPicPr>
          <p:cNvPr id="9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ED94B970-DFA7-4925-83DD-95EE27E34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88FC8CF9-CEFF-E603-4603-49E7C27288CA}"/>
              </a:ext>
            </a:extLst>
          </p:cNvPr>
          <p:cNvSpPr/>
          <p:nvPr/>
        </p:nvSpPr>
        <p:spPr>
          <a:xfrm>
            <a:off x="838200" y="1509486"/>
            <a:ext cx="10515600" cy="849653"/>
          </a:xfrm>
          <a:prstGeom prst="roundRect">
            <a:avLst/>
          </a:prstGeom>
          <a:solidFill>
            <a:srgbClr val="ECE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tx1"/>
                </a:solidFill>
              </a:rPr>
              <a:t>A group of </a:t>
            </a:r>
            <a:r>
              <a:rPr lang="it-IT" sz="2400" dirty="0" err="1">
                <a:solidFill>
                  <a:schemeClr val="tx1"/>
                </a:solidFill>
              </a:rPr>
              <a:t>simulated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battery-powered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b="1" dirty="0" err="1">
                <a:solidFill>
                  <a:schemeClr val="tx1"/>
                </a:solidFill>
              </a:rPr>
              <a:t>drones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navigates</a:t>
            </a:r>
            <a:r>
              <a:rPr lang="it-IT" sz="2400" dirty="0">
                <a:solidFill>
                  <a:schemeClr val="tx1"/>
                </a:solidFill>
              </a:rPr>
              <a:t> in an area and </a:t>
            </a:r>
            <a:r>
              <a:rPr lang="it-IT" sz="2400" dirty="0" err="1">
                <a:solidFill>
                  <a:schemeClr val="tx1"/>
                </a:solidFill>
              </a:rPr>
              <a:t>need</a:t>
            </a:r>
            <a:r>
              <a:rPr lang="it-IT" sz="2400" dirty="0">
                <a:solidFill>
                  <a:schemeClr val="tx1"/>
                </a:solidFill>
              </a:rPr>
              <a:t> to </a:t>
            </a:r>
            <a:r>
              <a:rPr lang="it-IT" sz="2400" dirty="0" err="1">
                <a:solidFill>
                  <a:schemeClr val="tx1"/>
                </a:solidFill>
              </a:rPr>
              <a:t>accomplish</a:t>
            </a:r>
            <a:r>
              <a:rPr lang="it-IT" sz="2400" dirty="0">
                <a:solidFill>
                  <a:schemeClr val="tx1"/>
                </a:solidFill>
              </a:rPr>
              <a:t> some </a:t>
            </a:r>
            <a:r>
              <a:rPr lang="it-IT" sz="2400" dirty="0" err="1">
                <a:solidFill>
                  <a:schemeClr val="tx1"/>
                </a:solidFill>
              </a:rPr>
              <a:t>specific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b="1" dirty="0">
                <a:solidFill>
                  <a:schemeClr val="tx1"/>
                </a:solidFill>
              </a:rPr>
              <a:t>tasks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endParaRPr lang="it-IT" sz="2000" dirty="0">
              <a:solidFill>
                <a:schemeClr val="tx1"/>
              </a:solidFill>
            </a:endParaRPr>
          </a:p>
        </p:txBody>
      </p:sp>
      <p:pic>
        <p:nvPicPr>
          <p:cNvPr id="10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341364FE-131C-0C8A-A892-944EE2E837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-59553" y="707346"/>
            <a:ext cx="1795505" cy="98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6F19699C-7E06-1B86-23F2-6C22E517F8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10172065" y="1909954"/>
            <a:ext cx="2019935" cy="110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36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E5392-5519-B745-8943-0AB01260A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19D278-936E-63A1-A66F-AA90D50F0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 err="1"/>
              <a:t>Experimentals</a:t>
            </a:r>
            <a:r>
              <a:rPr lang="it-IT" b="1" dirty="0"/>
              <a:t>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9319F91-441F-3987-E54A-BB9F1D3F4C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41921"/>
                <a:ext cx="10515600" cy="301829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t-IT" sz="2400" b="1" dirty="0"/>
                  <a:t>Graph </a:t>
                </a:r>
                <a:r>
                  <a:rPr lang="it-IT" sz="2400" b="1" dirty="0" err="1"/>
                  <a:t>Structure</a:t>
                </a:r>
                <a:r>
                  <a:rPr lang="it-IT" sz="2400" dirty="0"/>
                  <a:t>:</a:t>
                </a:r>
              </a:p>
              <a:p>
                <a:pPr marL="0" indent="0">
                  <a:buNone/>
                </a:pPr>
                <a:r>
                  <a:rPr lang="it-IT" sz="2400" dirty="0"/>
                  <a:t>The </a:t>
                </a:r>
                <a:r>
                  <a:rPr lang="it-IT" sz="2400" dirty="0" err="1"/>
                  <a:t>environment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represented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as</a:t>
                </a:r>
                <a:r>
                  <a:rPr lang="it-IT" sz="2400" dirty="0"/>
                  <a:t> a </a:t>
                </a:r>
                <a:r>
                  <a:rPr lang="it-IT" sz="2400" b="1" dirty="0" err="1"/>
                  <a:t>fully-connected</a:t>
                </a:r>
                <a:r>
                  <a:rPr lang="it-IT" sz="2400" b="1" dirty="0"/>
                  <a:t> </a:t>
                </a:r>
                <a:r>
                  <a:rPr lang="it-IT" sz="2400" b="1" dirty="0" err="1"/>
                  <a:t>graph</a:t>
                </a:r>
                <a:r>
                  <a:rPr lang="it-IT" sz="2400" b="1" dirty="0"/>
                  <a:t> </a:t>
                </a:r>
              </a:p>
              <a:p>
                <a:r>
                  <a:rPr lang="it-IT" sz="2400" dirty="0" err="1"/>
                  <a:t>each</a:t>
                </a:r>
                <a:r>
                  <a:rPr lang="it-IT" sz="2400" dirty="0"/>
                  <a:t> </a:t>
                </a:r>
                <a:r>
                  <a:rPr lang="it-IT" sz="2400" dirty="0" err="1"/>
                  <a:t>edge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weighted</a:t>
                </a:r>
                <a:r>
                  <a:rPr lang="it-IT" sz="2400" dirty="0"/>
                  <a:t> by </a:t>
                </a:r>
                <a:r>
                  <a:rPr lang="it-IT" sz="2400" i="1" dirty="0" err="1"/>
                  <a:t>Euclidean</a:t>
                </a:r>
                <a:r>
                  <a:rPr lang="it-IT" sz="2400" i="1" dirty="0"/>
                  <a:t> </a:t>
                </a:r>
                <a:r>
                  <a:rPr lang="it-IT" sz="2400" i="1" dirty="0" err="1"/>
                  <a:t>distance</a:t>
                </a:r>
                <a:endParaRPr lang="it-IT" sz="2400" i="1" dirty="0"/>
              </a:p>
              <a:p>
                <a:r>
                  <a:rPr lang="it-IT" sz="2400" dirty="0" err="1"/>
                  <a:t>each</a:t>
                </a:r>
                <a:r>
                  <a:rPr lang="it-IT" sz="2400" dirty="0"/>
                  <a:t> </a:t>
                </a:r>
                <a:r>
                  <a:rPr lang="it-IT" sz="2400" dirty="0" err="1"/>
                  <a:t>node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described</a:t>
                </a:r>
                <a:r>
                  <a:rPr lang="it-IT" sz="2400" dirty="0"/>
                  <a:t> by a 6-dimensions </a:t>
                </a:r>
                <a:r>
                  <a:rPr lang="it-IT" sz="2400" i="1" dirty="0"/>
                  <a:t>feature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vector</a:t>
                </a:r>
                <a:r>
                  <a:rPr lang="it-IT" sz="2400" dirty="0"/>
                  <a:t>: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endParaRPr lang="it-IT" sz="2400" i="1" dirty="0"/>
              </a:p>
              <a:p>
                <a:pPr marL="0" indent="0">
                  <a:buNone/>
                </a:pPr>
                <a:r>
                  <a:rPr lang="it-IT" sz="2400" dirty="0"/>
                  <a:t>	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9319F91-441F-3987-E54A-BB9F1D3F4C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41921"/>
                <a:ext cx="10515600" cy="3018298"/>
              </a:xfrm>
              <a:blipFill>
                <a:blip r:embed="rId2"/>
                <a:stretch>
                  <a:fillRect l="-965" t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graffa chiusa 7">
            <a:extLst>
              <a:ext uri="{FF2B5EF4-FFF2-40B4-BE49-F238E27FC236}">
                <a16:creationId xmlns:a16="http://schemas.microsoft.com/office/drawing/2014/main" id="{76A47A78-E2EC-DC88-7AFC-2270967D6CEF}"/>
              </a:ext>
            </a:extLst>
          </p:cNvPr>
          <p:cNvSpPr/>
          <p:nvPr/>
        </p:nvSpPr>
        <p:spPr>
          <a:xfrm rot="5400000">
            <a:off x="10598284" y="4383176"/>
            <a:ext cx="175100" cy="282103"/>
          </a:xfrm>
          <a:prstGeom prst="rightBrace">
            <a:avLst/>
          </a:prstGeom>
          <a:ln w="50800">
            <a:solidFill>
              <a:srgbClr val="ECE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F303D95-BFB4-36D8-0DA0-DC819FD2BF02}"/>
              </a:ext>
            </a:extLst>
          </p:cNvPr>
          <p:cNvSpPr txBox="1"/>
          <p:nvPr/>
        </p:nvSpPr>
        <p:spPr>
          <a:xfrm>
            <a:off x="10083843" y="4612645"/>
            <a:ext cx="1590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battery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998DB09-0A8F-9436-CD96-1CB6F136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9</a:t>
            </a:fld>
            <a:endParaRPr lang="it-IT"/>
          </a:p>
        </p:txBody>
      </p:sp>
      <p:pic>
        <p:nvPicPr>
          <p:cNvPr id="9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725905FE-E311-0382-73ED-800E91A2D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52307E4D-849E-9F89-4322-7D527E5BB644}"/>
              </a:ext>
            </a:extLst>
          </p:cNvPr>
          <p:cNvSpPr/>
          <p:nvPr/>
        </p:nvSpPr>
        <p:spPr>
          <a:xfrm>
            <a:off x="838200" y="1509486"/>
            <a:ext cx="10515600" cy="849653"/>
          </a:xfrm>
          <a:prstGeom prst="roundRect">
            <a:avLst/>
          </a:prstGeom>
          <a:solidFill>
            <a:srgbClr val="ECE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tx1"/>
                </a:solidFill>
              </a:rPr>
              <a:t>A group of </a:t>
            </a:r>
            <a:r>
              <a:rPr lang="it-IT" sz="2400" dirty="0" err="1">
                <a:solidFill>
                  <a:schemeClr val="tx1"/>
                </a:solidFill>
              </a:rPr>
              <a:t>simulated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battery-powered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b="1" dirty="0" err="1">
                <a:solidFill>
                  <a:schemeClr val="tx1"/>
                </a:solidFill>
              </a:rPr>
              <a:t>drones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navigates</a:t>
            </a:r>
            <a:r>
              <a:rPr lang="it-IT" sz="2400" dirty="0">
                <a:solidFill>
                  <a:schemeClr val="tx1"/>
                </a:solidFill>
              </a:rPr>
              <a:t> in an area and </a:t>
            </a:r>
            <a:r>
              <a:rPr lang="it-IT" sz="2400" dirty="0" err="1">
                <a:solidFill>
                  <a:schemeClr val="tx1"/>
                </a:solidFill>
              </a:rPr>
              <a:t>need</a:t>
            </a:r>
            <a:r>
              <a:rPr lang="it-IT" sz="2400" dirty="0">
                <a:solidFill>
                  <a:schemeClr val="tx1"/>
                </a:solidFill>
              </a:rPr>
              <a:t> to </a:t>
            </a:r>
            <a:r>
              <a:rPr lang="it-IT" sz="2400" dirty="0" err="1">
                <a:solidFill>
                  <a:schemeClr val="tx1"/>
                </a:solidFill>
              </a:rPr>
              <a:t>accomplish</a:t>
            </a:r>
            <a:r>
              <a:rPr lang="it-IT" sz="2400" dirty="0">
                <a:solidFill>
                  <a:schemeClr val="tx1"/>
                </a:solidFill>
              </a:rPr>
              <a:t> some </a:t>
            </a:r>
            <a:r>
              <a:rPr lang="it-IT" sz="2400" dirty="0" err="1">
                <a:solidFill>
                  <a:schemeClr val="tx1"/>
                </a:solidFill>
              </a:rPr>
              <a:t>specific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b="1" dirty="0">
                <a:solidFill>
                  <a:schemeClr val="tx1"/>
                </a:solidFill>
              </a:rPr>
              <a:t>tasks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endParaRPr lang="it-IT" sz="2000" dirty="0">
              <a:solidFill>
                <a:schemeClr val="tx1"/>
              </a:solidFill>
            </a:endParaRPr>
          </a:p>
        </p:txBody>
      </p:sp>
      <p:pic>
        <p:nvPicPr>
          <p:cNvPr id="10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4592204D-3FC1-9661-5D29-753E990947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-59553" y="707346"/>
            <a:ext cx="1795505" cy="98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73F12324-1F1E-516C-D7E5-DA1358A451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10172065" y="1909954"/>
            <a:ext cx="2019935" cy="110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744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45D27-B9EB-ADC0-5123-9A9316269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9E3C9E-02AB-2DBD-6BE0-1880E27F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 err="1"/>
              <a:t>Experimentals</a:t>
            </a:r>
            <a:r>
              <a:rPr lang="it-IT" b="1" dirty="0"/>
              <a:t>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BFF1A84-8882-E4BD-D79A-CD3B04E7B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41921"/>
                <a:ext cx="10515600" cy="301829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t-IT" sz="2400" b="1" dirty="0"/>
                  <a:t>Graph </a:t>
                </a:r>
                <a:r>
                  <a:rPr lang="it-IT" sz="2400" b="1" dirty="0" err="1"/>
                  <a:t>Structure</a:t>
                </a:r>
                <a:r>
                  <a:rPr lang="it-IT" sz="2400" dirty="0"/>
                  <a:t>:</a:t>
                </a:r>
              </a:p>
              <a:p>
                <a:pPr marL="0" indent="0">
                  <a:buNone/>
                </a:pPr>
                <a:r>
                  <a:rPr lang="it-IT" sz="2400" dirty="0"/>
                  <a:t>The </a:t>
                </a:r>
                <a:r>
                  <a:rPr lang="it-IT" sz="2400" dirty="0" err="1"/>
                  <a:t>environment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represented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as</a:t>
                </a:r>
                <a:r>
                  <a:rPr lang="it-IT" sz="2400" dirty="0"/>
                  <a:t> a </a:t>
                </a:r>
                <a:r>
                  <a:rPr lang="it-IT" sz="2400" b="1" dirty="0" err="1"/>
                  <a:t>fully-connected</a:t>
                </a:r>
                <a:r>
                  <a:rPr lang="it-IT" sz="2400" b="1" dirty="0"/>
                  <a:t> </a:t>
                </a:r>
                <a:r>
                  <a:rPr lang="it-IT" sz="2400" b="1" dirty="0" err="1"/>
                  <a:t>graph</a:t>
                </a:r>
                <a:r>
                  <a:rPr lang="it-IT" sz="2400" b="1" dirty="0"/>
                  <a:t> </a:t>
                </a:r>
              </a:p>
              <a:p>
                <a:r>
                  <a:rPr lang="it-IT" sz="2400" dirty="0" err="1"/>
                  <a:t>each</a:t>
                </a:r>
                <a:r>
                  <a:rPr lang="it-IT" sz="2400" dirty="0"/>
                  <a:t> </a:t>
                </a:r>
                <a:r>
                  <a:rPr lang="it-IT" sz="2400" dirty="0" err="1"/>
                  <a:t>edge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weighted</a:t>
                </a:r>
                <a:r>
                  <a:rPr lang="it-IT" sz="2400" dirty="0"/>
                  <a:t> by </a:t>
                </a:r>
                <a:r>
                  <a:rPr lang="it-IT" sz="2400" i="1" dirty="0" err="1"/>
                  <a:t>Euclidean</a:t>
                </a:r>
                <a:r>
                  <a:rPr lang="it-IT" sz="2400" i="1" dirty="0"/>
                  <a:t> </a:t>
                </a:r>
                <a:r>
                  <a:rPr lang="it-IT" sz="2400" i="1" dirty="0" err="1"/>
                  <a:t>distance</a:t>
                </a:r>
                <a:endParaRPr lang="it-IT" sz="2400" i="1" dirty="0"/>
              </a:p>
              <a:p>
                <a:r>
                  <a:rPr lang="it-IT" sz="2400" dirty="0" err="1"/>
                  <a:t>each</a:t>
                </a:r>
                <a:r>
                  <a:rPr lang="it-IT" sz="2400" dirty="0"/>
                  <a:t> </a:t>
                </a:r>
                <a:r>
                  <a:rPr lang="it-IT" sz="2400" dirty="0" err="1"/>
                  <a:t>node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described</a:t>
                </a:r>
                <a:r>
                  <a:rPr lang="it-IT" sz="2400" dirty="0"/>
                  <a:t> by a 6-dimensions </a:t>
                </a:r>
                <a:r>
                  <a:rPr lang="it-IT" sz="2400" i="1" dirty="0"/>
                  <a:t>feature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vector</a:t>
                </a:r>
                <a:r>
                  <a:rPr lang="it-IT" sz="2400" dirty="0"/>
                  <a:t>: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endParaRPr lang="it-IT" sz="2400" i="1" dirty="0"/>
              </a:p>
              <a:p>
                <a:pPr marL="0" indent="0">
                  <a:buNone/>
                </a:pPr>
                <a:r>
                  <a:rPr lang="it-IT" sz="2400" dirty="0"/>
                  <a:t>	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BFF1A84-8882-E4BD-D79A-CD3B04E7B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41921"/>
                <a:ext cx="10515600" cy="3018298"/>
              </a:xfrm>
              <a:blipFill>
                <a:blip r:embed="rId2"/>
                <a:stretch>
                  <a:fillRect l="-965" t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graffa chiusa 7">
            <a:extLst>
              <a:ext uri="{FF2B5EF4-FFF2-40B4-BE49-F238E27FC236}">
                <a16:creationId xmlns:a16="http://schemas.microsoft.com/office/drawing/2014/main" id="{03BB2EF0-1DC4-6FD5-78DD-8830DF35FC3E}"/>
              </a:ext>
            </a:extLst>
          </p:cNvPr>
          <p:cNvSpPr/>
          <p:nvPr/>
        </p:nvSpPr>
        <p:spPr>
          <a:xfrm rot="5400000">
            <a:off x="10865208" y="4384044"/>
            <a:ext cx="175100" cy="282103"/>
          </a:xfrm>
          <a:prstGeom prst="rightBrace">
            <a:avLst/>
          </a:prstGeom>
          <a:ln w="50800">
            <a:solidFill>
              <a:srgbClr val="ECE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1ECBFD5-96FA-2DBD-CEC5-293238DA39DD}"/>
              </a:ext>
            </a:extLst>
          </p:cNvPr>
          <p:cNvSpPr txBox="1"/>
          <p:nvPr/>
        </p:nvSpPr>
        <p:spPr>
          <a:xfrm>
            <a:off x="10157523" y="4624767"/>
            <a:ext cx="15904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 err="1"/>
              <a:t>node</a:t>
            </a:r>
            <a:r>
              <a:rPr lang="it-IT" dirty="0"/>
              <a:t> </a:t>
            </a:r>
            <a:r>
              <a:rPr lang="it-IT" dirty="0" err="1"/>
              <a:t>type</a:t>
            </a:r>
            <a:r>
              <a:rPr lang="it-IT" dirty="0"/>
              <a:t> label (CSTREL) 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59BFF2C-B419-7842-FCFF-2524A587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10</a:t>
            </a:fld>
            <a:endParaRPr lang="it-IT"/>
          </a:p>
        </p:txBody>
      </p:sp>
      <p:pic>
        <p:nvPicPr>
          <p:cNvPr id="9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DDDE90C3-A5C0-D312-FAC2-6AB5AEBA2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8EE95DFF-66F8-9B82-3972-6F080B3561A6}"/>
              </a:ext>
            </a:extLst>
          </p:cNvPr>
          <p:cNvSpPr/>
          <p:nvPr/>
        </p:nvSpPr>
        <p:spPr>
          <a:xfrm>
            <a:off x="838200" y="1509486"/>
            <a:ext cx="10515600" cy="849653"/>
          </a:xfrm>
          <a:prstGeom prst="roundRect">
            <a:avLst/>
          </a:prstGeom>
          <a:solidFill>
            <a:srgbClr val="ECE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tx1"/>
                </a:solidFill>
              </a:rPr>
              <a:t>A group of </a:t>
            </a:r>
            <a:r>
              <a:rPr lang="it-IT" sz="2400" dirty="0" err="1">
                <a:solidFill>
                  <a:schemeClr val="tx1"/>
                </a:solidFill>
              </a:rPr>
              <a:t>simulated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battery-powered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b="1" dirty="0" err="1">
                <a:solidFill>
                  <a:schemeClr val="tx1"/>
                </a:solidFill>
              </a:rPr>
              <a:t>drones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navigates</a:t>
            </a:r>
            <a:r>
              <a:rPr lang="it-IT" sz="2400" dirty="0">
                <a:solidFill>
                  <a:schemeClr val="tx1"/>
                </a:solidFill>
              </a:rPr>
              <a:t> in an area and </a:t>
            </a:r>
            <a:r>
              <a:rPr lang="it-IT" sz="2400" dirty="0" err="1">
                <a:solidFill>
                  <a:schemeClr val="tx1"/>
                </a:solidFill>
              </a:rPr>
              <a:t>need</a:t>
            </a:r>
            <a:r>
              <a:rPr lang="it-IT" sz="2400" dirty="0">
                <a:solidFill>
                  <a:schemeClr val="tx1"/>
                </a:solidFill>
              </a:rPr>
              <a:t> to </a:t>
            </a:r>
            <a:r>
              <a:rPr lang="it-IT" sz="2400" dirty="0" err="1">
                <a:solidFill>
                  <a:schemeClr val="tx1"/>
                </a:solidFill>
              </a:rPr>
              <a:t>accomplish</a:t>
            </a:r>
            <a:r>
              <a:rPr lang="it-IT" sz="2400" dirty="0">
                <a:solidFill>
                  <a:schemeClr val="tx1"/>
                </a:solidFill>
              </a:rPr>
              <a:t> some </a:t>
            </a:r>
            <a:r>
              <a:rPr lang="it-IT" sz="2400" dirty="0" err="1">
                <a:solidFill>
                  <a:schemeClr val="tx1"/>
                </a:solidFill>
              </a:rPr>
              <a:t>specific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b="1" dirty="0">
                <a:solidFill>
                  <a:schemeClr val="tx1"/>
                </a:solidFill>
              </a:rPr>
              <a:t>tasks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endParaRPr lang="it-IT" sz="2000" dirty="0">
              <a:solidFill>
                <a:schemeClr val="tx1"/>
              </a:solidFill>
            </a:endParaRPr>
          </a:p>
        </p:txBody>
      </p:sp>
      <p:pic>
        <p:nvPicPr>
          <p:cNvPr id="10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1A9DA169-C8AE-6497-8C41-25C37E8513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-59553" y="707346"/>
            <a:ext cx="1795505" cy="98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AECD1819-99B9-F73E-2FFA-4CF764EACC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10172065" y="1909954"/>
            <a:ext cx="2019935" cy="110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953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C4BFE-AFF3-E665-4EC3-2AD3A80B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F3432D-694C-BBB6-40F5-D1079CA6C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 err="1"/>
              <a:t>Experimentals</a:t>
            </a:r>
            <a:r>
              <a:rPr lang="it-IT" b="1" dirty="0"/>
              <a:t>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F437E27-6691-6A88-6075-35E3037F45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41921"/>
                <a:ext cx="10515600" cy="301829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t-IT" sz="2400" b="1" dirty="0"/>
                  <a:t>Graph </a:t>
                </a:r>
                <a:r>
                  <a:rPr lang="it-IT" sz="2400" b="1" dirty="0" err="1"/>
                  <a:t>Structure</a:t>
                </a:r>
                <a:r>
                  <a:rPr lang="it-IT" sz="2400" dirty="0"/>
                  <a:t>:</a:t>
                </a:r>
              </a:p>
              <a:p>
                <a:pPr marL="0" indent="0">
                  <a:buNone/>
                </a:pPr>
                <a:r>
                  <a:rPr lang="it-IT" sz="2400" dirty="0"/>
                  <a:t>The </a:t>
                </a:r>
                <a:r>
                  <a:rPr lang="it-IT" sz="2400" dirty="0" err="1"/>
                  <a:t>environment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represented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as</a:t>
                </a:r>
                <a:r>
                  <a:rPr lang="it-IT" sz="2400" dirty="0"/>
                  <a:t> a </a:t>
                </a:r>
                <a:r>
                  <a:rPr lang="it-IT" sz="2400" b="1" dirty="0" err="1"/>
                  <a:t>fully-connected</a:t>
                </a:r>
                <a:r>
                  <a:rPr lang="it-IT" sz="2400" b="1" dirty="0"/>
                  <a:t> </a:t>
                </a:r>
                <a:r>
                  <a:rPr lang="it-IT" sz="2400" b="1" dirty="0" err="1"/>
                  <a:t>graph</a:t>
                </a:r>
                <a:r>
                  <a:rPr lang="it-IT" sz="2400" b="1" dirty="0"/>
                  <a:t> </a:t>
                </a:r>
              </a:p>
              <a:p>
                <a:r>
                  <a:rPr lang="it-IT" sz="2400" dirty="0" err="1"/>
                  <a:t>each</a:t>
                </a:r>
                <a:r>
                  <a:rPr lang="it-IT" sz="2400" dirty="0"/>
                  <a:t> </a:t>
                </a:r>
                <a:r>
                  <a:rPr lang="it-IT" sz="2400" dirty="0" err="1"/>
                  <a:t>edge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weighted</a:t>
                </a:r>
                <a:r>
                  <a:rPr lang="it-IT" sz="2400" dirty="0"/>
                  <a:t> by </a:t>
                </a:r>
                <a:r>
                  <a:rPr lang="it-IT" sz="2400" i="1" dirty="0" err="1"/>
                  <a:t>Euclidean</a:t>
                </a:r>
                <a:r>
                  <a:rPr lang="it-IT" sz="2400" i="1" dirty="0"/>
                  <a:t> </a:t>
                </a:r>
                <a:r>
                  <a:rPr lang="it-IT" sz="2400" i="1" dirty="0" err="1"/>
                  <a:t>distance</a:t>
                </a:r>
                <a:endParaRPr lang="it-IT" sz="2400" i="1" dirty="0"/>
              </a:p>
              <a:p>
                <a:r>
                  <a:rPr lang="it-IT" sz="2400" dirty="0" err="1"/>
                  <a:t>each</a:t>
                </a:r>
                <a:r>
                  <a:rPr lang="it-IT" sz="2400" dirty="0"/>
                  <a:t> </a:t>
                </a:r>
                <a:r>
                  <a:rPr lang="it-IT" sz="2400" dirty="0" err="1"/>
                  <a:t>node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described</a:t>
                </a:r>
                <a:r>
                  <a:rPr lang="it-IT" sz="2400" dirty="0"/>
                  <a:t> by a 6-dimensions </a:t>
                </a:r>
                <a:r>
                  <a:rPr lang="it-IT" sz="2400" i="1" dirty="0"/>
                  <a:t>feature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vector</a:t>
                </a:r>
                <a:r>
                  <a:rPr lang="it-IT" sz="2400" dirty="0"/>
                  <a:t>: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endParaRPr lang="it-IT" sz="2400" i="1" dirty="0"/>
              </a:p>
              <a:p>
                <a:pPr marL="0" indent="0">
                  <a:buNone/>
                </a:pPr>
                <a:r>
                  <a:rPr lang="it-IT" sz="2400" dirty="0"/>
                  <a:t>	3 </a:t>
                </a:r>
                <a:r>
                  <a:rPr lang="it-IT" sz="2400" dirty="0" err="1"/>
                  <a:t>types</a:t>
                </a:r>
                <a:r>
                  <a:rPr lang="it-IT" sz="2400" dirty="0"/>
                  <a:t> of </a:t>
                </a:r>
                <a:r>
                  <a:rPr lang="it-IT" sz="2400" dirty="0" err="1"/>
                  <a:t>nodes</a:t>
                </a:r>
                <a:r>
                  <a:rPr lang="it-IT" sz="2400" dirty="0"/>
                  <a:t> </a:t>
                </a:r>
                <a:r>
                  <a:rPr lang="it-IT" sz="2400" i="1" dirty="0"/>
                  <a:t>(label </a:t>
                </a:r>
                <a:r>
                  <a:rPr lang="it-IT" sz="2400" i="1" dirty="0" err="1"/>
                  <a:t>encoding</a:t>
                </a:r>
                <a:r>
                  <a:rPr lang="it-IT" sz="2400" i="1" dirty="0"/>
                  <a:t> </a:t>
                </a:r>
                <a:r>
                  <a:rPr lang="it-IT" sz="2400" b="1" i="1" dirty="0"/>
                  <a:t>CSTREL</a:t>
                </a:r>
                <a:r>
                  <a:rPr lang="it-IT" sz="2400" i="1" dirty="0"/>
                  <a:t>):</a:t>
                </a:r>
              </a:p>
              <a:p>
                <a:pPr lvl="3"/>
                <a:r>
                  <a:rPr lang="it-IT" sz="2400" b="1" dirty="0"/>
                  <a:t>Base</a:t>
                </a:r>
                <a:r>
                  <a:rPr lang="it-IT" sz="2400" dirty="0"/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t-IT" sz="2400" dirty="0"/>
                  <a:t>): </a:t>
                </a:r>
                <a:r>
                  <a:rPr lang="it-IT" sz="2400" dirty="0" err="1"/>
                  <a:t>charging</a:t>
                </a:r>
                <a:r>
                  <a:rPr lang="it-IT" sz="2400" dirty="0"/>
                  <a:t> station (</a:t>
                </a:r>
                <a:r>
                  <a:rPr lang="it-IT" sz="2400" i="1" dirty="0" err="1"/>
                  <a:t>static</a:t>
                </a:r>
                <a:r>
                  <a:rPr lang="it-IT" sz="2400" dirty="0"/>
                  <a:t>)</a:t>
                </a:r>
              </a:p>
              <a:p>
                <a:pPr lvl="3"/>
                <a:r>
                  <a:rPr lang="it-IT" sz="2400" b="1" dirty="0"/>
                  <a:t>Drone</a:t>
                </a:r>
                <a:r>
                  <a:rPr lang="it-IT" sz="2400" dirty="0"/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it-IT" sz="2400" dirty="0"/>
                  <a:t>): mobile agent (</a:t>
                </a:r>
                <a:r>
                  <a:rPr lang="it-IT" sz="2400" i="1" dirty="0" err="1"/>
                  <a:t>dynamic</a:t>
                </a:r>
                <a:r>
                  <a:rPr lang="it-IT" sz="2400" dirty="0"/>
                  <a:t>)</a:t>
                </a:r>
              </a:p>
              <a:p>
                <a:pPr lvl="3"/>
                <a:r>
                  <a:rPr lang="it-IT" sz="2400" b="1" dirty="0" err="1"/>
                  <a:t>Grid</a:t>
                </a:r>
                <a:r>
                  <a:rPr lang="it-IT" sz="2400" dirty="0"/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sz="2400" dirty="0"/>
                  <a:t>): </a:t>
                </a:r>
                <a:r>
                  <a:rPr lang="it-IT" sz="2400" dirty="0" err="1"/>
                  <a:t>spatial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reference</a:t>
                </a:r>
                <a:r>
                  <a:rPr lang="it-IT" sz="2400" dirty="0"/>
                  <a:t>  (</a:t>
                </a:r>
                <a:r>
                  <a:rPr lang="it-IT" sz="2400" i="1" dirty="0" err="1"/>
                  <a:t>static</a:t>
                </a:r>
                <a:r>
                  <a:rPr lang="it-IT" sz="2400" dirty="0"/>
                  <a:t>)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F437E27-6691-6A88-6075-35E3037F45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41921"/>
                <a:ext cx="10515600" cy="3018298"/>
              </a:xfrm>
              <a:blipFill>
                <a:blip r:embed="rId2"/>
                <a:stretch>
                  <a:fillRect l="-965" t="-2941" b="-2016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ccia angolare in su 6">
            <a:extLst>
              <a:ext uri="{FF2B5EF4-FFF2-40B4-BE49-F238E27FC236}">
                <a16:creationId xmlns:a16="http://schemas.microsoft.com/office/drawing/2014/main" id="{7B366632-26C0-8782-E26E-386E01144617}"/>
              </a:ext>
            </a:extLst>
          </p:cNvPr>
          <p:cNvSpPr/>
          <p:nvPr/>
        </p:nvSpPr>
        <p:spPr>
          <a:xfrm rot="5400000">
            <a:off x="1303071" y="4280170"/>
            <a:ext cx="359924" cy="505838"/>
          </a:xfrm>
          <a:prstGeom prst="bentUpArrow">
            <a:avLst/>
          </a:prstGeom>
          <a:solidFill>
            <a:srgbClr val="ECE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3BA27780-3789-1A5C-BBEF-CDB534431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11</a:t>
            </a:fld>
            <a:endParaRPr lang="it-IT"/>
          </a:p>
        </p:txBody>
      </p:sp>
      <p:pic>
        <p:nvPicPr>
          <p:cNvPr id="9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A1581C6B-07BA-D3BC-2941-FCA38B629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8024B029-4D8B-614A-6934-71024090AAF7}"/>
              </a:ext>
            </a:extLst>
          </p:cNvPr>
          <p:cNvSpPr/>
          <p:nvPr/>
        </p:nvSpPr>
        <p:spPr>
          <a:xfrm>
            <a:off x="838200" y="1509486"/>
            <a:ext cx="10515600" cy="849653"/>
          </a:xfrm>
          <a:prstGeom prst="roundRect">
            <a:avLst/>
          </a:prstGeom>
          <a:solidFill>
            <a:srgbClr val="ECE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tx1"/>
                </a:solidFill>
              </a:rPr>
              <a:t>A group of </a:t>
            </a:r>
            <a:r>
              <a:rPr lang="it-IT" sz="2400" dirty="0" err="1">
                <a:solidFill>
                  <a:schemeClr val="tx1"/>
                </a:solidFill>
              </a:rPr>
              <a:t>simulated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battery-powered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b="1" dirty="0" err="1">
                <a:solidFill>
                  <a:schemeClr val="tx1"/>
                </a:solidFill>
              </a:rPr>
              <a:t>drones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navigates</a:t>
            </a:r>
            <a:r>
              <a:rPr lang="it-IT" sz="2400" dirty="0">
                <a:solidFill>
                  <a:schemeClr val="tx1"/>
                </a:solidFill>
              </a:rPr>
              <a:t> in an area and </a:t>
            </a:r>
            <a:r>
              <a:rPr lang="it-IT" sz="2400" dirty="0" err="1">
                <a:solidFill>
                  <a:schemeClr val="tx1"/>
                </a:solidFill>
              </a:rPr>
              <a:t>need</a:t>
            </a:r>
            <a:r>
              <a:rPr lang="it-IT" sz="2400" dirty="0">
                <a:solidFill>
                  <a:schemeClr val="tx1"/>
                </a:solidFill>
              </a:rPr>
              <a:t> to </a:t>
            </a:r>
            <a:r>
              <a:rPr lang="it-IT" sz="2400" dirty="0" err="1">
                <a:solidFill>
                  <a:schemeClr val="tx1"/>
                </a:solidFill>
              </a:rPr>
              <a:t>accomplish</a:t>
            </a:r>
            <a:r>
              <a:rPr lang="it-IT" sz="2400" dirty="0">
                <a:solidFill>
                  <a:schemeClr val="tx1"/>
                </a:solidFill>
              </a:rPr>
              <a:t> some </a:t>
            </a:r>
            <a:r>
              <a:rPr lang="it-IT" sz="2400" dirty="0" err="1">
                <a:solidFill>
                  <a:schemeClr val="tx1"/>
                </a:solidFill>
              </a:rPr>
              <a:t>specific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b="1" dirty="0">
                <a:solidFill>
                  <a:schemeClr val="tx1"/>
                </a:solidFill>
              </a:rPr>
              <a:t>tasks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endParaRPr lang="it-IT" sz="2000" dirty="0">
              <a:solidFill>
                <a:schemeClr val="tx1"/>
              </a:solidFill>
            </a:endParaRPr>
          </a:p>
        </p:txBody>
      </p:sp>
      <p:pic>
        <p:nvPicPr>
          <p:cNvPr id="10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7CC5CE70-16BE-40A0-505C-92EABBC8C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-59553" y="707346"/>
            <a:ext cx="1795505" cy="98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E17B8489-238C-E07F-01D2-5B47467CF0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10172065" y="1909954"/>
            <a:ext cx="2019935" cy="110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8825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7FA3C-1B79-00CD-0247-75C65C964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4D2B3B-0595-F474-8677-F1A78F1A7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863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Initialization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F05117A-F34E-3F89-AD3E-A143107298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77045"/>
                <a:ext cx="7940377" cy="4936449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 algn="just">
                  <a:buNone/>
                </a:pPr>
                <a:r>
                  <a:rPr lang="it-IT" dirty="0"/>
                  <a:t>At the </a:t>
                </a:r>
                <a:r>
                  <a:rPr lang="it-IT" dirty="0" err="1"/>
                  <a:t>beginning</a:t>
                </a:r>
                <a:r>
                  <a:rPr lang="it-IT" dirty="0"/>
                  <a:t> of </a:t>
                </a:r>
                <a:r>
                  <a:rPr lang="it-IT" dirty="0" err="1"/>
                  <a:t>each</a:t>
                </a:r>
                <a:r>
                  <a:rPr lang="it-IT" dirty="0"/>
                  <a:t> </a:t>
                </a:r>
                <a:r>
                  <a:rPr lang="it-IT" dirty="0" err="1"/>
                  <a:t>rollout</a:t>
                </a:r>
                <a:r>
                  <a:rPr lang="it-IT" dirty="0"/>
                  <a:t>:</a:t>
                </a:r>
              </a:p>
              <a:p>
                <a:pPr algn="just"/>
                <a:r>
                  <a:rPr lang="it-IT" b="1" dirty="0" err="1"/>
                  <a:t>Grid</a:t>
                </a:r>
                <a:r>
                  <a:rPr lang="it-IT" dirty="0"/>
                  <a:t> </a:t>
                </a:r>
                <a:r>
                  <a:rPr lang="it-IT" dirty="0" err="1"/>
                  <a:t>nodes</a:t>
                </a:r>
                <a:r>
                  <a:rPr lang="it-IT" dirty="0"/>
                  <a:t> and </a:t>
                </a:r>
                <a:r>
                  <a:rPr lang="it-IT" b="1" dirty="0"/>
                  <a:t>base</a:t>
                </a:r>
                <a:r>
                  <a:rPr lang="it-IT" dirty="0"/>
                  <a:t> </a:t>
                </a:r>
                <a:r>
                  <a:rPr lang="it-IT" dirty="0" err="1"/>
                  <a:t>node</a:t>
                </a:r>
                <a:r>
                  <a:rPr lang="it-IT" dirty="0"/>
                  <a:t> are </a:t>
                </a:r>
                <a:r>
                  <a:rPr lang="it-IT" dirty="0" err="1"/>
                  <a:t>placed</a:t>
                </a:r>
                <a:r>
                  <a:rPr lang="it-IT" dirty="0"/>
                  <a:t> </a:t>
                </a:r>
                <a:r>
                  <a:rPr lang="it-IT" dirty="0" err="1"/>
                  <a:t>at</a:t>
                </a:r>
                <a:r>
                  <a:rPr lang="it-IT" dirty="0"/>
                  <a:t> </a:t>
                </a:r>
                <a:r>
                  <a:rPr lang="it-IT" dirty="0" err="1"/>
                  <a:t>fixed</a:t>
                </a:r>
                <a:r>
                  <a:rPr lang="it-IT" dirty="0"/>
                  <a:t> positions</a:t>
                </a:r>
              </a:p>
              <a:p>
                <a:pPr algn="just"/>
                <a:r>
                  <a:rPr lang="it-IT" b="1" dirty="0" err="1"/>
                  <a:t>Drones</a:t>
                </a:r>
                <a:r>
                  <a:rPr lang="it-IT" dirty="0"/>
                  <a:t> positions are </a:t>
                </a:r>
                <a:r>
                  <a:rPr lang="it-IT" dirty="0" err="1"/>
                  <a:t>sampled</a:t>
                </a:r>
                <a:r>
                  <a:rPr lang="it-IT" dirty="0"/>
                  <a:t> </a:t>
                </a:r>
                <a:r>
                  <a:rPr lang="it-IT" i="1" dirty="0" err="1"/>
                  <a:t>randomly</a:t>
                </a:r>
                <a:r>
                  <a:rPr lang="it-IT" dirty="0"/>
                  <a:t> inside the </a:t>
                </a:r>
                <a:r>
                  <a:rPr lang="it-IT" dirty="0" err="1"/>
                  <a:t>grid</a:t>
                </a:r>
                <a:r>
                  <a:rPr lang="it-IT" dirty="0"/>
                  <a:t> </a:t>
                </a:r>
              </a:p>
              <a:p>
                <a:pPr marL="0" indent="0" algn="just">
                  <a:buNone/>
                </a:pPr>
                <a:r>
                  <a:rPr lang="it-IT" dirty="0"/>
                  <a:t>      with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it-IT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it-IT" dirty="0"/>
              </a:p>
              <a:p>
                <a:pPr algn="just"/>
                <a:endParaRPr lang="it-IT" dirty="0"/>
              </a:p>
              <a:p>
                <a:pPr marL="0" indent="0" algn="just">
                  <a:buNone/>
                </a:pPr>
                <a:r>
                  <a:rPr lang="it-IT" b="1" dirty="0"/>
                  <a:t>Dynamics Model </a:t>
                </a:r>
              </a:p>
              <a:p>
                <a:pPr marL="0" indent="0" algn="just">
                  <a:buNone/>
                </a:pPr>
                <a:r>
                  <a:rPr lang="it-IT" dirty="0"/>
                  <a:t>Policy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dirty="0"/>
                  <a:t> 2D action </a:t>
                </a:r>
                <a:r>
                  <a:rPr lang="it-IT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it-IT" dirty="0"/>
                  <a:t> </a:t>
                </a:r>
                <a:r>
                  <a:rPr lang="it-IT" dirty="0" err="1"/>
                  <a:t>velocity</a:t>
                </a:r>
                <a:r>
                  <a:rPr lang="it-IT" dirty="0"/>
                  <a:t> update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it-IT" dirty="0"/>
                  <a:t> new position</a:t>
                </a:r>
              </a:p>
              <a:p>
                <a:pPr marL="0" indent="0" algn="just">
                  <a:buNone/>
                </a:pPr>
                <a:endParaRPr lang="it-IT" dirty="0"/>
              </a:p>
              <a:p>
                <a:pPr marL="0" indent="0" algn="just">
                  <a:buNone/>
                </a:pPr>
                <a:r>
                  <a:rPr lang="it-IT" dirty="0"/>
                  <a:t>	</a:t>
                </a:r>
              </a:p>
              <a:p>
                <a:pPr marL="0" indent="0" algn="just">
                  <a:buNone/>
                </a:pPr>
                <a:endParaRPr lang="it-IT" b="1" dirty="0">
                  <a:solidFill>
                    <a:schemeClr val="bg1"/>
                  </a:solidFill>
                </a:endParaRPr>
              </a:p>
              <a:p>
                <a:pPr marL="0" indent="0" algn="just">
                  <a:buNone/>
                </a:pPr>
                <a:r>
                  <a:rPr lang="it-IT" b="1" dirty="0">
                    <a:solidFill>
                      <a:schemeClr val="tx1"/>
                    </a:solidFill>
                  </a:rPr>
                  <a:t>	</a:t>
                </a:r>
                <a:r>
                  <a:rPr lang="it-IT" b="1" dirty="0" err="1">
                    <a:solidFill>
                      <a:schemeClr val="tx1"/>
                    </a:solidFill>
                  </a:rPr>
                  <a:t>Battery</a:t>
                </a:r>
                <a:r>
                  <a:rPr lang="it-IT" b="1" dirty="0">
                    <a:solidFill>
                      <a:schemeClr val="tx1"/>
                    </a:solidFill>
                  </a:rPr>
                  <a:t> Dynamics 	       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2%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it-IT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0%</m:t>
                    </m:r>
                  </m:oMath>
                </a14:m>
                <a:endParaRPr lang="it-IT" dirty="0">
                  <a:solidFill>
                    <a:schemeClr val="bg1"/>
                  </a:solidFill>
                </a:endParaRPr>
              </a:p>
              <a:p>
                <a:pPr marL="0" indent="0" algn="just">
                  <a:buNone/>
                </a:pPr>
                <a:endParaRPr lang="it-IT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it-IT" sz="2400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F05117A-F34E-3F89-AD3E-A143107298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77045"/>
                <a:ext cx="7940377" cy="4936449"/>
              </a:xfrm>
              <a:blipFill>
                <a:blip r:embed="rId3"/>
                <a:stretch>
                  <a:fillRect l="-1116" t="-230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551AA9B5-C5F6-3AA0-9D32-955D726932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62"/>
          <a:stretch>
            <a:fillRect/>
          </a:stretch>
        </p:blipFill>
        <p:spPr>
          <a:xfrm>
            <a:off x="8778577" y="230863"/>
            <a:ext cx="3165885" cy="3331588"/>
          </a:xfrm>
          <a:prstGeom prst="rect">
            <a:avLst/>
          </a:prstGeom>
        </p:spPr>
      </p:pic>
      <p:pic>
        <p:nvPicPr>
          <p:cNvPr id="5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A244042F-CF50-B181-175A-12DB7328F9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10728656" y="1627582"/>
            <a:ext cx="639151" cy="35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ccia di espansione 6">
            <a:extLst>
              <a:ext uri="{FF2B5EF4-FFF2-40B4-BE49-F238E27FC236}">
                <a16:creationId xmlns:a16="http://schemas.microsoft.com/office/drawing/2014/main" id="{0C6083C1-2F32-861B-FF37-ACDE85525BA5}"/>
              </a:ext>
            </a:extLst>
          </p:cNvPr>
          <p:cNvSpPr/>
          <p:nvPr/>
        </p:nvSpPr>
        <p:spPr>
          <a:xfrm>
            <a:off x="1069357" y="4654961"/>
            <a:ext cx="593387" cy="669971"/>
          </a:xfrm>
          <a:prstGeom prst="chevron">
            <a:avLst/>
          </a:prstGeom>
          <a:solidFill>
            <a:srgbClr val="ECE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Freccia giù 7">
            <a:extLst>
              <a:ext uri="{FF2B5EF4-FFF2-40B4-BE49-F238E27FC236}">
                <a16:creationId xmlns:a16="http://schemas.microsoft.com/office/drawing/2014/main" id="{C8493765-E6D0-16E0-5D90-AAC030C7B33C}"/>
              </a:ext>
            </a:extLst>
          </p:cNvPr>
          <p:cNvSpPr/>
          <p:nvPr/>
        </p:nvSpPr>
        <p:spPr>
          <a:xfrm>
            <a:off x="4662472" y="5626586"/>
            <a:ext cx="291830" cy="389106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bg1"/>
              </a:solidFill>
            </a:endParaRPr>
          </a:p>
        </p:txBody>
      </p:sp>
      <p:sp>
        <p:nvSpPr>
          <p:cNvPr id="9" name="Freccia giù 8">
            <a:extLst>
              <a:ext uri="{FF2B5EF4-FFF2-40B4-BE49-F238E27FC236}">
                <a16:creationId xmlns:a16="http://schemas.microsoft.com/office/drawing/2014/main" id="{554CB311-38FC-90CA-98B2-C8E722DC6D9E}"/>
              </a:ext>
            </a:extLst>
          </p:cNvPr>
          <p:cNvSpPr/>
          <p:nvPr/>
        </p:nvSpPr>
        <p:spPr>
          <a:xfrm rot="10800000">
            <a:off x="7197735" y="5864529"/>
            <a:ext cx="291830" cy="389106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57A58F3-0C1A-78F3-2A9E-3984C95A4D68}"/>
              </a:ext>
            </a:extLst>
          </p:cNvPr>
          <p:cNvSpPr txBox="1"/>
          <p:nvPr/>
        </p:nvSpPr>
        <p:spPr>
          <a:xfrm>
            <a:off x="1893902" y="4574449"/>
            <a:ext cx="90280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it-IT" sz="2400" dirty="0"/>
              <a:t>Drone </a:t>
            </a:r>
            <a:r>
              <a:rPr lang="it-IT" sz="2400" dirty="0" err="1"/>
              <a:t>motion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b="1" dirty="0" err="1"/>
              <a:t>continuous</a:t>
            </a:r>
            <a:r>
              <a:rPr lang="it-IT" sz="2400" dirty="0"/>
              <a:t>, </a:t>
            </a:r>
            <a:r>
              <a:rPr lang="it-IT" sz="2400" dirty="0" err="1"/>
              <a:t>bounded</a:t>
            </a:r>
            <a:r>
              <a:rPr lang="it-IT" sz="2400" dirty="0"/>
              <a:t> to the </a:t>
            </a:r>
            <a:r>
              <a:rPr lang="it-IT" sz="2400" dirty="0" err="1"/>
              <a:t>spatial</a:t>
            </a:r>
            <a:r>
              <a:rPr lang="it-IT" sz="2400" dirty="0"/>
              <a:t> domain, and </a:t>
            </a:r>
            <a:r>
              <a:rPr lang="it-IT" sz="2400" dirty="0" err="1"/>
              <a:t>smoothed</a:t>
            </a:r>
            <a:r>
              <a:rPr lang="it-IT" sz="2400" dirty="0"/>
              <a:t> by </a:t>
            </a:r>
            <a:r>
              <a:rPr lang="it-IT" sz="2400" dirty="0" err="1"/>
              <a:t>inertia</a:t>
            </a:r>
            <a:endParaRPr lang="it-IT" sz="2400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62EC1294-A221-1EFD-7CD0-EC3F1DE4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12</a:t>
            </a:fld>
            <a:endParaRPr lang="it-IT" dirty="0"/>
          </a:p>
        </p:txBody>
      </p:sp>
      <p:pic>
        <p:nvPicPr>
          <p:cNvPr id="11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D459B1FE-3CCC-5AA0-4FD8-83E970360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608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CBB1-4EC5-104B-0B0F-46FBA4C8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FC13F0-01B5-6DB8-3F1F-AFE19CB7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863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Initialization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A09F7F4-0B55-8C5B-AC75-CE919170C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77045"/>
                <a:ext cx="7940377" cy="4936449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 algn="just">
                  <a:buNone/>
                </a:pPr>
                <a:r>
                  <a:rPr lang="it-IT" dirty="0"/>
                  <a:t>At the </a:t>
                </a:r>
                <a:r>
                  <a:rPr lang="it-IT" dirty="0" err="1"/>
                  <a:t>beginning</a:t>
                </a:r>
                <a:r>
                  <a:rPr lang="it-IT" dirty="0"/>
                  <a:t> of </a:t>
                </a:r>
                <a:r>
                  <a:rPr lang="it-IT" dirty="0" err="1"/>
                  <a:t>each</a:t>
                </a:r>
                <a:r>
                  <a:rPr lang="it-IT" dirty="0"/>
                  <a:t> </a:t>
                </a:r>
                <a:r>
                  <a:rPr lang="it-IT" dirty="0" err="1"/>
                  <a:t>rollout</a:t>
                </a:r>
                <a:r>
                  <a:rPr lang="it-IT" dirty="0"/>
                  <a:t>:</a:t>
                </a:r>
              </a:p>
              <a:p>
                <a:pPr algn="just"/>
                <a:r>
                  <a:rPr lang="it-IT" b="1" dirty="0" err="1"/>
                  <a:t>Grid</a:t>
                </a:r>
                <a:r>
                  <a:rPr lang="it-IT" dirty="0"/>
                  <a:t> </a:t>
                </a:r>
                <a:r>
                  <a:rPr lang="it-IT" dirty="0" err="1"/>
                  <a:t>nodes</a:t>
                </a:r>
                <a:r>
                  <a:rPr lang="it-IT" dirty="0"/>
                  <a:t> and </a:t>
                </a:r>
                <a:r>
                  <a:rPr lang="it-IT" b="1" dirty="0"/>
                  <a:t>base</a:t>
                </a:r>
                <a:r>
                  <a:rPr lang="it-IT" dirty="0"/>
                  <a:t> </a:t>
                </a:r>
                <a:r>
                  <a:rPr lang="it-IT" dirty="0" err="1"/>
                  <a:t>node</a:t>
                </a:r>
                <a:r>
                  <a:rPr lang="it-IT" dirty="0"/>
                  <a:t> are </a:t>
                </a:r>
                <a:r>
                  <a:rPr lang="it-IT" dirty="0" err="1"/>
                  <a:t>placed</a:t>
                </a:r>
                <a:r>
                  <a:rPr lang="it-IT" dirty="0"/>
                  <a:t> </a:t>
                </a:r>
                <a:r>
                  <a:rPr lang="it-IT" dirty="0" err="1"/>
                  <a:t>at</a:t>
                </a:r>
                <a:r>
                  <a:rPr lang="it-IT" dirty="0"/>
                  <a:t> </a:t>
                </a:r>
                <a:r>
                  <a:rPr lang="it-IT" dirty="0" err="1"/>
                  <a:t>fixed</a:t>
                </a:r>
                <a:r>
                  <a:rPr lang="it-IT" dirty="0"/>
                  <a:t> positions</a:t>
                </a:r>
              </a:p>
              <a:p>
                <a:pPr algn="just"/>
                <a:r>
                  <a:rPr lang="it-IT" b="1" dirty="0" err="1"/>
                  <a:t>Drones</a:t>
                </a:r>
                <a:r>
                  <a:rPr lang="it-IT" dirty="0"/>
                  <a:t> positions are </a:t>
                </a:r>
                <a:r>
                  <a:rPr lang="it-IT" dirty="0" err="1"/>
                  <a:t>sampled</a:t>
                </a:r>
                <a:r>
                  <a:rPr lang="it-IT" dirty="0"/>
                  <a:t> </a:t>
                </a:r>
                <a:r>
                  <a:rPr lang="it-IT" i="1" dirty="0" err="1"/>
                  <a:t>randomly</a:t>
                </a:r>
                <a:r>
                  <a:rPr lang="it-IT" dirty="0"/>
                  <a:t> inside the </a:t>
                </a:r>
                <a:r>
                  <a:rPr lang="it-IT" dirty="0" err="1"/>
                  <a:t>grid</a:t>
                </a:r>
                <a:r>
                  <a:rPr lang="it-IT" dirty="0"/>
                  <a:t> </a:t>
                </a:r>
              </a:p>
              <a:p>
                <a:pPr marL="0" indent="0" algn="just">
                  <a:buNone/>
                </a:pPr>
                <a:r>
                  <a:rPr lang="it-IT" dirty="0"/>
                  <a:t>      with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it-IT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it-IT" dirty="0"/>
              </a:p>
              <a:p>
                <a:pPr algn="just"/>
                <a:endParaRPr lang="it-IT" dirty="0"/>
              </a:p>
              <a:p>
                <a:pPr marL="0" indent="0" algn="just">
                  <a:buNone/>
                </a:pPr>
                <a:r>
                  <a:rPr lang="it-IT" b="1" dirty="0"/>
                  <a:t>Dynamics Model </a:t>
                </a:r>
              </a:p>
              <a:p>
                <a:pPr marL="0" indent="0" algn="just">
                  <a:buNone/>
                </a:pPr>
                <a:r>
                  <a:rPr lang="it-IT" dirty="0"/>
                  <a:t>Policy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dirty="0"/>
                  <a:t> 2D action </a:t>
                </a:r>
                <a:r>
                  <a:rPr lang="it-IT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it-IT" dirty="0"/>
                  <a:t> </a:t>
                </a:r>
                <a:r>
                  <a:rPr lang="it-IT" dirty="0" err="1"/>
                  <a:t>velocity</a:t>
                </a:r>
                <a:r>
                  <a:rPr lang="it-IT" dirty="0"/>
                  <a:t> update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it-IT" dirty="0"/>
                  <a:t> new position</a:t>
                </a:r>
              </a:p>
              <a:p>
                <a:pPr marL="0" indent="0" algn="just">
                  <a:buNone/>
                </a:pPr>
                <a:endParaRPr lang="it-IT" dirty="0"/>
              </a:p>
              <a:p>
                <a:pPr marL="0" indent="0" algn="just">
                  <a:buNone/>
                </a:pPr>
                <a:r>
                  <a:rPr lang="it-IT" dirty="0"/>
                  <a:t>	</a:t>
                </a:r>
              </a:p>
              <a:p>
                <a:pPr marL="0" indent="0" algn="just">
                  <a:buNone/>
                </a:pPr>
                <a:endParaRPr lang="it-IT" b="1" dirty="0"/>
              </a:p>
              <a:p>
                <a:pPr marL="0" indent="0" algn="just">
                  <a:buNone/>
                </a:pPr>
                <a:r>
                  <a:rPr lang="it-IT" b="1" dirty="0"/>
                  <a:t>	</a:t>
                </a:r>
                <a:r>
                  <a:rPr lang="it-IT" b="1" dirty="0" err="1"/>
                  <a:t>Battery</a:t>
                </a:r>
                <a:r>
                  <a:rPr lang="it-IT" b="1" dirty="0"/>
                  <a:t> Dynamics 	       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2%</m:t>
                    </m:r>
                  </m:oMath>
                </a14:m>
                <a:r>
                  <a:rPr lang="it-IT" dirty="0">
                    <a:solidFill>
                      <a:srgbClr val="C0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it-IT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0%</m:t>
                    </m:r>
                  </m:oMath>
                </a14:m>
                <a:endParaRPr lang="it-IT" dirty="0">
                  <a:solidFill>
                    <a:schemeClr val="accent3"/>
                  </a:solidFill>
                </a:endParaRPr>
              </a:p>
              <a:p>
                <a:pPr marL="0" indent="0" algn="just">
                  <a:buNone/>
                </a:pPr>
                <a:endParaRPr lang="it-IT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it-IT" sz="2400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A09F7F4-0B55-8C5B-AC75-CE919170C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77045"/>
                <a:ext cx="7940377" cy="4936449"/>
              </a:xfrm>
              <a:blipFill>
                <a:blip r:embed="rId3"/>
                <a:stretch>
                  <a:fillRect l="-1116" t="-230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3C7C41CA-E6C9-9C52-B60F-9405533F24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62"/>
          <a:stretch>
            <a:fillRect/>
          </a:stretch>
        </p:blipFill>
        <p:spPr>
          <a:xfrm>
            <a:off x="8778577" y="230863"/>
            <a:ext cx="3165885" cy="3331588"/>
          </a:xfrm>
          <a:prstGeom prst="rect">
            <a:avLst/>
          </a:prstGeom>
        </p:spPr>
      </p:pic>
      <p:pic>
        <p:nvPicPr>
          <p:cNvPr id="5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C5F17F2D-9522-BB21-7F97-C4DF025A5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9530713" y="2160705"/>
            <a:ext cx="639151" cy="35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ccia di espansione 6">
            <a:extLst>
              <a:ext uri="{FF2B5EF4-FFF2-40B4-BE49-F238E27FC236}">
                <a16:creationId xmlns:a16="http://schemas.microsoft.com/office/drawing/2014/main" id="{F704C383-CF3A-2953-F8F5-8873AE42642A}"/>
              </a:ext>
            </a:extLst>
          </p:cNvPr>
          <p:cNvSpPr/>
          <p:nvPr/>
        </p:nvSpPr>
        <p:spPr>
          <a:xfrm>
            <a:off x="1069357" y="4654961"/>
            <a:ext cx="593387" cy="669971"/>
          </a:xfrm>
          <a:prstGeom prst="chevron">
            <a:avLst/>
          </a:prstGeom>
          <a:solidFill>
            <a:srgbClr val="ECE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9" name="Freccia giù 8">
            <a:extLst>
              <a:ext uri="{FF2B5EF4-FFF2-40B4-BE49-F238E27FC236}">
                <a16:creationId xmlns:a16="http://schemas.microsoft.com/office/drawing/2014/main" id="{4051EA79-E75C-B710-CD58-7B0B5143D479}"/>
              </a:ext>
            </a:extLst>
          </p:cNvPr>
          <p:cNvSpPr/>
          <p:nvPr/>
        </p:nvSpPr>
        <p:spPr>
          <a:xfrm rot="10800000">
            <a:off x="5984624" y="5509586"/>
            <a:ext cx="291830" cy="389106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DCE9F09-479D-0FD2-CCA0-8DDF35042185}"/>
              </a:ext>
            </a:extLst>
          </p:cNvPr>
          <p:cNvSpPr txBox="1"/>
          <p:nvPr/>
        </p:nvSpPr>
        <p:spPr>
          <a:xfrm>
            <a:off x="1893902" y="4574449"/>
            <a:ext cx="90280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it-IT" sz="2400" dirty="0"/>
              <a:t>Drone </a:t>
            </a:r>
            <a:r>
              <a:rPr lang="it-IT" sz="2400" dirty="0" err="1"/>
              <a:t>motion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b="1" dirty="0" err="1"/>
              <a:t>continuous</a:t>
            </a:r>
            <a:r>
              <a:rPr lang="it-IT" sz="2400" dirty="0"/>
              <a:t>, </a:t>
            </a:r>
            <a:r>
              <a:rPr lang="it-IT" sz="2400" dirty="0" err="1"/>
              <a:t>bounded</a:t>
            </a:r>
            <a:r>
              <a:rPr lang="it-IT" sz="2400" dirty="0"/>
              <a:t> to the </a:t>
            </a:r>
            <a:r>
              <a:rPr lang="it-IT" sz="2400" dirty="0" err="1"/>
              <a:t>spatial</a:t>
            </a:r>
            <a:r>
              <a:rPr lang="it-IT" sz="2400" dirty="0"/>
              <a:t> domain, and </a:t>
            </a:r>
            <a:r>
              <a:rPr lang="it-IT" sz="2400" dirty="0" err="1"/>
              <a:t>smoothed</a:t>
            </a:r>
            <a:r>
              <a:rPr lang="it-IT" sz="2400" dirty="0"/>
              <a:t> by </a:t>
            </a:r>
            <a:r>
              <a:rPr lang="it-IT" sz="2400" dirty="0" err="1"/>
              <a:t>inertia</a:t>
            </a:r>
            <a:endParaRPr lang="it-IT" sz="2400" dirty="0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B6E34F63-6FDD-B7E6-D668-38163F7257FC}"/>
              </a:ext>
            </a:extLst>
          </p:cNvPr>
          <p:cNvSpPr/>
          <p:nvPr/>
        </p:nvSpPr>
        <p:spPr>
          <a:xfrm>
            <a:off x="9375270" y="2106880"/>
            <a:ext cx="798425" cy="752245"/>
          </a:xfrm>
          <a:prstGeom prst="ellipse">
            <a:avLst/>
          </a:prstGeom>
          <a:solidFill>
            <a:schemeClr val="accent6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3AD43F23-34D8-5B0E-9E40-7B92E8698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13</a:t>
            </a:fld>
            <a:endParaRPr lang="it-IT"/>
          </a:p>
        </p:txBody>
      </p:sp>
      <p:pic>
        <p:nvPicPr>
          <p:cNvPr id="15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2AAAC15D-BEBD-B512-358B-3A46150DB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ccia giù 15">
            <a:extLst>
              <a:ext uri="{FF2B5EF4-FFF2-40B4-BE49-F238E27FC236}">
                <a16:creationId xmlns:a16="http://schemas.microsoft.com/office/drawing/2014/main" id="{A9D5222E-49EB-701A-B5E0-3D0124411D7A}"/>
              </a:ext>
            </a:extLst>
          </p:cNvPr>
          <p:cNvSpPr/>
          <p:nvPr/>
        </p:nvSpPr>
        <p:spPr>
          <a:xfrm>
            <a:off x="4662472" y="5626586"/>
            <a:ext cx="291830" cy="389106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021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F507-DCEF-96CC-8FD2-3D4DF0ED1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4C3038-BBA5-A1BB-197A-B7ADFE91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9399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Battery</a:t>
            </a:r>
            <a:r>
              <a:rPr lang="it-IT" b="1" dirty="0"/>
              <a:t> </a:t>
            </a:r>
            <a:r>
              <a:rPr lang="it-IT" b="1" dirty="0" err="1"/>
              <a:t>Recharge</a:t>
            </a:r>
            <a:r>
              <a:rPr lang="it-IT" b="1" dirty="0"/>
              <a:t> - No </a:t>
            </a:r>
            <a:r>
              <a:rPr lang="it-IT" b="1" dirty="0" err="1"/>
              <a:t>Collision</a:t>
            </a:r>
            <a:r>
              <a:rPr lang="it-IT" b="1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A991805-EA85-09DB-35EB-D50006C9F0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097" y="1410312"/>
                <a:ext cx="11366503" cy="427444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/>
                  <a:t>If a drone </a:t>
                </a:r>
                <a:r>
                  <a:rPr lang="it-IT" sz="3100" dirty="0" err="1"/>
                  <a:t>has</a:t>
                </a:r>
                <a:r>
                  <a:rPr lang="it-IT" sz="3100" dirty="0"/>
                  <a:t> high </a:t>
                </a:r>
                <a:r>
                  <a:rPr lang="it-IT" sz="3100" dirty="0" err="1"/>
                  <a:t>battery</a:t>
                </a:r>
                <a:r>
                  <a:rPr lang="it-IT" sz="3100" dirty="0"/>
                  <a:t>, </a:t>
                </a:r>
                <a:r>
                  <a:rPr lang="it-IT" sz="3100" dirty="0" err="1"/>
                  <a:t>it</a:t>
                </a:r>
                <a:r>
                  <a:rPr lang="it-IT" sz="3100" dirty="0"/>
                  <a:t> </a:t>
                </a:r>
                <a:r>
                  <a:rPr lang="it-IT" sz="3100" dirty="0" err="1"/>
                  <a:t>should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reach</a:t>
                </a:r>
                <a:r>
                  <a:rPr lang="it-IT" sz="3100" dirty="0"/>
                  <a:t> the target </a:t>
                </a:r>
                <a:r>
                  <a:rPr lang="it-IT" sz="3100" dirty="0" err="1"/>
                  <a:t>region</a:t>
                </a:r>
                <a:r>
                  <a:rPr lang="it-IT" sz="3100" dirty="0"/>
                  <a:t> </a:t>
                </a:r>
                <a:r>
                  <a:rPr lang="it-IT" sz="3100" dirty="0" err="1"/>
                  <a:t>within</a:t>
                </a:r>
                <a:r>
                  <a:rPr lang="it-IT" sz="3100" dirty="0"/>
                  <a:t> a </a:t>
                </a:r>
                <a:r>
                  <a:rPr lang="it-IT" sz="3100" dirty="0" err="1"/>
                  <a:t>given</a:t>
                </a:r>
                <a:r>
                  <a:rPr lang="it-IT" sz="3100" dirty="0"/>
                  <a:t> time </a:t>
                </a:r>
                <a:r>
                  <a:rPr lang="it-IT" sz="3100" dirty="0" err="1"/>
                  <a:t>horizon</a:t>
                </a: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sz="3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𝐡𝐢𝐠𝐡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𝐛𝐚𝐭𝐭𝐞𝐫𝐲</m:t>
                      </m:r>
                      <m:r>
                        <a:rPr lang="it-IT" sz="3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d>
                        <m:d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𝐚𝐥𝐢𝐯𝐞</m:t>
                              </m:r>
                              <m:r>
                                <a:rPr lang="it-IT" sz="3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3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𝐑𝐞𝐚𝐜𝐡</m:t>
                              </m:r>
                            </m:e>
                            <m: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34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𝐚𝐭</m:t>
                          </m:r>
                          <m:r>
                            <a:rPr lang="it-IT" sz="34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it-IT" sz="3400" b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𝐭𝐚𝐫𝐠𝐞𝐭</m:t>
                          </m:r>
                        </m:e>
                      </m:d>
                    </m:oMath>
                  </m:oMathPara>
                </a14:m>
                <a:endParaRPr lang="it-IT" sz="3400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>
                    <a:solidFill>
                      <a:schemeClr val="bg1"/>
                    </a:solidFill>
                  </a:rPr>
                  <a:t>If a drone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has</a:t>
                </a:r>
                <a:r>
                  <a:rPr lang="it-IT" sz="3100" dirty="0">
                    <a:solidFill>
                      <a:schemeClr val="bg1"/>
                    </a:solidFill>
                  </a:rPr>
                  <a:t> low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battery</a:t>
                </a:r>
                <a:r>
                  <a:rPr lang="it-IT" sz="3100" dirty="0">
                    <a:solidFill>
                      <a:schemeClr val="bg1"/>
                    </a:solidFill>
                  </a:rPr>
                  <a:t>,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it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should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reach</a:t>
                </a:r>
                <a:r>
                  <a:rPr lang="it-IT" sz="3100" dirty="0">
                    <a:solidFill>
                      <a:schemeClr val="bg1"/>
                    </a:solidFill>
                  </a:rPr>
                  <a:t> a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charging</a:t>
                </a:r>
                <a:r>
                  <a:rPr lang="it-IT" sz="3100" dirty="0">
                    <a:solidFill>
                      <a:schemeClr val="bg1"/>
                    </a:solidFill>
                  </a:rPr>
                  <a:t> base and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remain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there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until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sufficiently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recharged</a:t>
                </a:r>
                <a:endParaRPr lang="it-IT" sz="310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it-IT" sz="3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𝐥𝐨𝐰</m:t>
                      </m:r>
                      <m:r>
                        <a:rPr lang="it-IT" sz="3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it-IT" sz="3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𝐛𝐚𝐭𝐭𝐞𝐫𝐲</m:t>
                      </m:r>
                      <m:r>
                        <a:rPr lang="it-IT" sz="3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d>
                        <m:dPr>
                          <m:ctrlP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400" b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𝐟𝐮𝐥𝐥</m:t>
                          </m:r>
                          <m:r>
                            <a:rPr lang="it-IT" sz="3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it-IT" sz="34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𝐛𝐚𝐭𝐭𝐞𝐫𝐲</m:t>
                          </m:r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it-IT" sz="3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𝐚𝐥𝐢𝐯𝐞</m:t>
                              </m:r>
                              <m:r>
                                <a:rPr lang="it-IT" sz="3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3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𝐑𝐞𝐚𝐜𝐡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it-IT" sz="3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3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𝒅</m:t>
                                      </m:r>
                                    </m:e>
                                    <m:sub>
                                      <m:r>
                                        <a:rPr lang="it-IT" sz="3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it-IT" sz="3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it-IT" sz="3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𝒅</m:t>
                                      </m:r>
                                    </m:e>
                                    <m:sub>
                                      <m:r>
                                        <a:rPr lang="it-IT" sz="3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  <m:r>
                            <a:rPr lang="it-IT" sz="3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𝐟𝐫𝐞𝐞</m:t>
                          </m:r>
                          <m:r>
                            <a:rPr lang="it-IT" sz="3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it-IT" sz="34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𝐛𝐚𝐬𝐞</m:t>
                          </m:r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it-IT" sz="3400" b="1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it-IT" sz="310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>
                    <a:solidFill>
                      <a:schemeClr val="bg1"/>
                    </a:solidFill>
                  </a:rPr>
                  <a:t>A drone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should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remain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alive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at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all</a:t>
                </a:r>
                <a:r>
                  <a:rPr lang="it-IT" sz="3100" dirty="0">
                    <a:solidFill>
                      <a:schemeClr val="bg1"/>
                    </a:solidFill>
                  </a:rPr>
                  <a:t> times,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meaning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keep</a:t>
                </a:r>
                <a:r>
                  <a:rPr lang="it-IT" sz="3100" dirty="0">
                    <a:solidFill>
                      <a:schemeClr val="bg1"/>
                    </a:solidFill>
                  </a:rPr>
                  <a:t> the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battery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level</a:t>
                </a:r>
                <a:r>
                  <a:rPr lang="it-IT" sz="3100" dirty="0">
                    <a:solidFill>
                      <a:schemeClr val="bg1"/>
                    </a:solidFill>
                  </a:rPr>
                  <a:t> non-negative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it-IT" sz="3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𝐚𝐥𝐢𝐯𝐞</m:t>
                      </m:r>
                    </m:oMath>
                  </m:oMathPara>
                </a14:m>
                <a:endParaRPr lang="it-IT" dirty="0">
                  <a:solidFill>
                    <a:schemeClr val="bg1"/>
                  </a:solidFill>
                </a:endParaRPr>
              </a:p>
              <a:p>
                <a:endParaRPr lang="it-IT" dirty="0"/>
              </a:p>
              <a:p>
                <a:pPr marL="0" indent="0">
                  <a:buNone/>
                </a:pPr>
                <a:endParaRPr lang="it-IT" sz="2400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A991805-EA85-09DB-35EB-D50006C9F0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097" y="1410312"/>
                <a:ext cx="11366503" cy="4274441"/>
              </a:xfrm>
              <a:blipFill>
                <a:blip r:embed="rId3"/>
                <a:stretch>
                  <a:fillRect l="-894" t="-1775" r="-6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AD2EA221-B3AE-D2F9-A762-254B002BEEEF}"/>
              </a:ext>
            </a:extLst>
          </p:cNvPr>
          <p:cNvSpPr txBox="1"/>
          <p:nvPr/>
        </p:nvSpPr>
        <p:spPr>
          <a:xfrm>
            <a:off x="419095" y="1265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accent2"/>
                </a:solidFill>
              </a:rPr>
              <a:t>D</a:t>
            </a:r>
            <a:r>
              <a:rPr lang="it-IT" sz="1800" b="1" dirty="0">
                <a:solidFill>
                  <a:schemeClr val="accent2"/>
                </a:solidFill>
              </a:rPr>
              <a:t>rone </a:t>
            </a:r>
            <a:r>
              <a:rPr lang="it-IT" sz="1800" b="1" dirty="0" err="1">
                <a:solidFill>
                  <a:schemeClr val="accent2"/>
                </a:solidFill>
              </a:rPr>
              <a:t>nodes</a:t>
            </a:r>
            <a:endParaRPr lang="it-IT" sz="1800" b="1" dirty="0">
              <a:solidFill>
                <a:schemeClr val="accent2"/>
              </a:solidFill>
            </a:endParaRPr>
          </a:p>
          <a:p>
            <a:r>
              <a:rPr lang="it-IT" b="1" dirty="0" err="1">
                <a:solidFill>
                  <a:schemeClr val="accent1"/>
                </a:solidFill>
              </a:rPr>
              <a:t>Grid</a:t>
            </a:r>
            <a:r>
              <a:rPr lang="it-IT" b="1" dirty="0">
                <a:solidFill>
                  <a:schemeClr val="accent1"/>
                </a:solidFill>
              </a:rPr>
              <a:t> </a:t>
            </a:r>
            <a:r>
              <a:rPr lang="it-IT" b="1" dirty="0" err="1">
                <a:solidFill>
                  <a:schemeClr val="accent1"/>
                </a:solidFill>
              </a:rPr>
              <a:t>nodes</a:t>
            </a:r>
            <a:endParaRPr lang="it-IT" b="1" dirty="0">
              <a:solidFill>
                <a:schemeClr val="accent1"/>
              </a:solidFill>
            </a:endParaRPr>
          </a:p>
          <a:p>
            <a:r>
              <a:rPr lang="it-IT" b="1" dirty="0">
                <a:solidFill>
                  <a:schemeClr val="accent5"/>
                </a:solidFill>
              </a:rPr>
              <a:t>Base </a:t>
            </a:r>
            <a:r>
              <a:rPr lang="it-IT" b="1" dirty="0" err="1">
                <a:solidFill>
                  <a:schemeClr val="accent5"/>
                </a:solidFill>
              </a:rPr>
              <a:t>node</a:t>
            </a:r>
            <a:endParaRPr lang="it-IT" b="1" dirty="0">
              <a:solidFill>
                <a:schemeClr val="accent5"/>
              </a:solidFill>
            </a:endParaRP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FD1FCFC4-7F45-1525-F0B6-CC36BB566456}"/>
              </a:ext>
            </a:extLst>
          </p:cNvPr>
          <p:cNvSpPr/>
          <p:nvPr/>
        </p:nvSpPr>
        <p:spPr>
          <a:xfrm>
            <a:off x="184826" y="219399"/>
            <a:ext cx="234271" cy="19889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2C4AD912-AF42-66B2-2ADB-09CF63B4F6A9}"/>
              </a:ext>
            </a:extLst>
          </p:cNvPr>
          <p:cNvSpPr/>
          <p:nvPr/>
        </p:nvSpPr>
        <p:spPr>
          <a:xfrm>
            <a:off x="184825" y="490470"/>
            <a:ext cx="234271" cy="1988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9EDCAF93-C341-0484-3099-1393A73E46EB}"/>
              </a:ext>
            </a:extLst>
          </p:cNvPr>
          <p:cNvSpPr/>
          <p:nvPr/>
        </p:nvSpPr>
        <p:spPr>
          <a:xfrm>
            <a:off x="184824" y="753920"/>
            <a:ext cx="234271" cy="1988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27D8F003-E495-AA7E-EEB1-FD36161B04A3}"/>
              </a:ext>
            </a:extLst>
          </p:cNvPr>
          <p:cNvSpPr/>
          <p:nvPr/>
        </p:nvSpPr>
        <p:spPr>
          <a:xfrm>
            <a:off x="77821" y="82675"/>
            <a:ext cx="1964987" cy="1014479"/>
          </a:xfrm>
          <a:prstGeom prst="roundRect">
            <a:avLst/>
          </a:prstGeom>
          <a:noFill/>
          <a:ln w="50800">
            <a:solidFill>
              <a:srgbClr val="ECE3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081A3EA1-E14B-20AF-5D82-606FD6494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14</a:t>
            </a:fld>
            <a:endParaRPr lang="it-IT"/>
          </a:p>
        </p:txBody>
      </p:sp>
      <p:pic>
        <p:nvPicPr>
          <p:cNvPr id="22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24B37976-8D0C-92F2-E7C9-2DECB241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656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4B3BF-B8CC-0982-7CCE-EDA651A0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8DC4CB8-2D0D-A1CE-7D77-323D82A668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097" y="1410312"/>
                <a:ext cx="11366503" cy="427444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/>
                  <a:t>If a drone </a:t>
                </a:r>
                <a:r>
                  <a:rPr lang="it-IT" sz="3100" dirty="0" err="1"/>
                  <a:t>has</a:t>
                </a:r>
                <a:r>
                  <a:rPr lang="it-IT" sz="3100" dirty="0"/>
                  <a:t> high </a:t>
                </a:r>
                <a:r>
                  <a:rPr lang="it-IT" sz="3100" dirty="0" err="1"/>
                  <a:t>battery</a:t>
                </a:r>
                <a:r>
                  <a:rPr lang="it-IT" sz="3100" dirty="0"/>
                  <a:t>, </a:t>
                </a:r>
                <a:r>
                  <a:rPr lang="it-IT" sz="3100" dirty="0" err="1"/>
                  <a:t>it</a:t>
                </a:r>
                <a:r>
                  <a:rPr lang="it-IT" sz="3100" dirty="0"/>
                  <a:t> </a:t>
                </a:r>
                <a:r>
                  <a:rPr lang="it-IT" sz="3100" dirty="0" err="1"/>
                  <a:t>should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reach</a:t>
                </a:r>
                <a:r>
                  <a:rPr lang="it-IT" sz="3100" dirty="0"/>
                  <a:t> the target </a:t>
                </a:r>
                <a:r>
                  <a:rPr lang="it-IT" sz="3100" dirty="0" err="1"/>
                  <a:t>region</a:t>
                </a:r>
                <a:r>
                  <a:rPr lang="it-IT" sz="3100" dirty="0"/>
                  <a:t> </a:t>
                </a:r>
                <a:r>
                  <a:rPr lang="it-IT" sz="3100" dirty="0" err="1"/>
                  <a:t>within</a:t>
                </a:r>
                <a:r>
                  <a:rPr lang="it-IT" sz="3100" dirty="0"/>
                  <a:t> a </a:t>
                </a:r>
                <a:r>
                  <a:rPr lang="it-IT" sz="3100" dirty="0" err="1"/>
                  <a:t>given</a:t>
                </a:r>
                <a:r>
                  <a:rPr lang="it-IT" sz="3100" dirty="0"/>
                  <a:t> time </a:t>
                </a:r>
                <a:r>
                  <a:rPr lang="it-IT" sz="3100" dirty="0" err="1"/>
                  <a:t>horizon</a:t>
                </a: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sz="3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𝐡𝐢𝐠𝐡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𝐛𝐚𝐭𝐭𝐞𝐫𝐲</m:t>
                      </m:r>
                      <m:r>
                        <a:rPr lang="it-IT" sz="3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d>
                        <m:d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𝐚𝐥𝐢𝐯𝐞</m:t>
                              </m:r>
                              <m:r>
                                <a:rPr lang="it-IT" sz="3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3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𝐑𝐞𝐚𝐜𝐡</m:t>
                              </m:r>
                            </m:e>
                            <m: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34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𝐚𝐭</m:t>
                          </m:r>
                          <m:r>
                            <a:rPr lang="it-IT" sz="34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it-IT" sz="3400" b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𝐭𝐚𝐫𝐠𝐞𝐭</m:t>
                          </m:r>
                        </m:e>
                      </m:d>
                    </m:oMath>
                  </m:oMathPara>
                </a14:m>
                <a:endParaRPr lang="it-IT" sz="3400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 err="1"/>
                  <a:t>If</a:t>
                </a:r>
                <a:r>
                  <a:rPr lang="it-IT" sz="3100" dirty="0"/>
                  <a:t> a drone </a:t>
                </a:r>
                <a:r>
                  <a:rPr lang="it-IT" sz="3100" dirty="0" err="1"/>
                  <a:t>has</a:t>
                </a:r>
                <a:r>
                  <a:rPr lang="it-IT" sz="3100" dirty="0"/>
                  <a:t> low </a:t>
                </a:r>
                <a:r>
                  <a:rPr lang="it-IT" sz="3100" dirty="0" err="1"/>
                  <a:t>battery</a:t>
                </a:r>
                <a:r>
                  <a:rPr lang="it-IT" sz="3100" dirty="0"/>
                  <a:t>, </a:t>
                </a:r>
                <a:r>
                  <a:rPr lang="it-IT" sz="3100" dirty="0" err="1"/>
                  <a:t>it</a:t>
                </a:r>
                <a:r>
                  <a:rPr lang="it-IT" sz="3100" dirty="0"/>
                  <a:t> </a:t>
                </a:r>
                <a:r>
                  <a:rPr lang="it-IT" sz="3100" dirty="0" err="1"/>
                  <a:t>should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reach</a:t>
                </a:r>
                <a:r>
                  <a:rPr lang="it-IT" sz="3100" dirty="0"/>
                  <a:t> a </a:t>
                </a:r>
                <a:r>
                  <a:rPr lang="it-IT" sz="3100" dirty="0" err="1"/>
                  <a:t>charging</a:t>
                </a:r>
                <a:r>
                  <a:rPr lang="it-IT" sz="3100" dirty="0"/>
                  <a:t> base and </a:t>
                </a:r>
                <a:r>
                  <a:rPr lang="it-IT" sz="3100" dirty="0" err="1"/>
                  <a:t>remain</a:t>
                </a:r>
                <a:r>
                  <a:rPr lang="it-IT" sz="3100" dirty="0"/>
                  <a:t> </a:t>
                </a:r>
                <a:r>
                  <a:rPr lang="it-IT" sz="3100" dirty="0" err="1"/>
                  <a:t>there</a:t>
                </a:r>
                <a:r>
                  <a:rPr lang="it-IT" sz="3100" dirty="0"/>
                  <a:t> </a:t>
                </a:r>
                <a:r>
                  <a:rPr lang="it-IT" sz="3100" dirty="0" err="1"/>
                  <a:t>until</a:t>
                </a:r>
                <a:r>
                  <a:rPr lang="it-IT" sz="3100" dirty="0"/>
                  <a:t> </a:t>
                </a:r>
                <a:r>
                  <a:rPr lang="it-IT" sz="3100" dirty="0" err="1"/>
                  <a:t>sufficiently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recharged</a:t>
                </a: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it-IT" sz="3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𝐥𝐨𝐰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𝐛𝐚𝐭𝐭𝐞𝐫𝐲</m:t>
                      </m:r>
                      <m:r>
                        <a:rPr lang="it-IT" sz="3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d>
                        <m:d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400" b="1" i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𝐚𝐥𝐢𝐯𝐞</m:t>
                                  </m:r>
                                  <m:r>
                                    <a:rPr lang="it-IT" sz="34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it-IT" sz="34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𝐑𝐞𝐚𝐜𝐡</m:t>
                                  </m:r>
                                </m:e>
                                <m: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34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</m:e>
                                        <m:sub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it-IT" sz="34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</m:e>
                                        <m:sub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r>
                                <a:rPr lang="it-IT" sz="3400" b="1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𝐟𝐫𝐞𝐞</m:t>
                              </m:r>
                              <m:r>
                                <a:rPr lang="it-IT" sz="3400" b="1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it-IT" sz="3400" b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𝐛𝐚𝐬𝐞</m:t>
                              </m:r>
                            </m:e>
                          </m:d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3400" b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𝐟𝐮𝐥𝐥</m:t>
                          </m:r>
                          <m:r>
                            <a:rPr lang="it-IT" sz="34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it-IT" sz="3400" b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𝐛𝐚𝐭𝐭𝐞𝐫𝐲</m:t>
                          </m:r>
                        </m:e>
                      </m:d>
                    </m:oMath>
                  </m:oMathPara>
                </a14:m>
                <a:endParaRPr lang="it-IT" sz="3400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>
                    <a:solidFill>
                      <a:schemeClr val="bg1"/>
                    </a:solidFill>
                  </a:rPr>
                  <a:t>A drone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should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remain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alive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at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all</a:t>
                </a:r>
                <a:r>
                  <a:rPr lang="it-IT" sz="3100" dirty="0">
                    <a:solidFill>
                      <a:schemeClr val="bg1"/>
                    </a:solidFill>
                  </a:rPr>
                  <a:t> times,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meaning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keep</a:t>
                </a:r>
                <a:r>
                  <a:rPr lang="it-IT" sz="3100" dirty="0">
                    <a:solidFill>
                      <a:schemeClr val="bg1"/>
                    </a:solidFill>
                  </a:rPr>
                  <a:t> the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battery</a:t>
                </a:r>
                <a:r>
                  <a:rPr lang="it-IT" sz="3100" dirty="0">
                    <a:solidFill>
                      <a:schemeClr val="bg1"/>
                    </a:solidFill>
                  </a:rPr>
                  <a:t> </a:t>
                </a:r>
                <a:r>
                  <a:rPr lang="it-IT" sz="3100" dirty="0" err="1">
                    <a:solidFill>
                      <a:schemeClr val="bg1"/>
                    </a:solidFill>
                  </a:rPr>
                  <a:t>level</a:t>
                </a:r>
                <a:r>
                  <a:rPr lang="it-IT" sz="3100" dirty="0">
                    <a:solidFill>
                      <a:schemeClr val="bg1"/>
                    </a:solidFill>
                  </a:rPr>
                  <a:t> non-negative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it-IT" sz="3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𝐚𝐥𝐢𝐯𝐞</m:t>
                      </m:r>
                    </m:oMath>
                  </m:oMathPara>
                </a14:m>
                <a:endParaRPr lang="it-IT" dirty="0">
                  <a:solidFill>
                    <a:schemeClr val="bg1"/>
                  </a:solidFill>
                </a:endParaRPr>
              </a:p>
              <a:p>
                <a:endParaRPr lang="it-IT" dirty="0"/>
              </a:p>
              <a:p>
                <a:pPr marL="0" indent="0">
                  <a:buNone/>
                </a:pPr>
                <a:endParaRPr lang="it-IT" sz="2400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8DC4CB8-2D0D-A1CE-7D77-323D82A668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097" y="1410312"/>
                <a:ext cx="11366503" cy="4274441"/>
              </a:xfrm>
              <a:blipFill>
                <a:blip r:embed="rId3"/>
                <a:stretch>
                  <a:fillRect l="-894" t="-1775" r="-6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4E15D2B7-7AD1-A4EF-D7C6-5371137C97AA}"/>
              </a:ext>
            </a:extLst>
          </p:cNvPr>
          <p:cNvSpPr txBox="1"/>
          <p:nvPr/>
        </p:nvSpPr>
        <p:spPr>
          <a:xfrm>
            <a:off x="419095" y="1265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accent2"/>
                </a:solidFill>
              </a:rPr>
              <a:t>D</a:t>
            </a:r>
            <a:r>
              <a:rPr lang="it-IT" sz="1800" b="1" dirty="0">
                <a:solidFill>
                  <a:schemeClr val="accent2"/>
                </a:solidFill>
              </a:rPr>
              <a:t>rone </a:t>
            </a:r>
            <a:r>
              <a:rPr lang="it-IT" sz="1800" b="1" dirty="0" err="1">
                <a:solidFill>
                  <a:schemeClr val="accent2"/>
                </a:solidFill>
              </a:rPr>
              <a:t>nodes</a:t>
            </a:r>
            <a:endParaRPr lang="it-IT" sz="1800" b="1" dirty="0">
              <a:solidFill>
                <a:schemeClr val="accent2"/>
              </a:solidFill>
            </a:endParaRPr>
          </a:p>
          <a:p>
            <a:r>
              <a:rPr lang="it-IT" b="1" dirty="0" err="1">
                <a:solidFill>
                  <a:schemeClr val="accent1"/>
                </a:solidFill>
              </a:rPr>
              <a:t>Grid</a:t>
            </a:r>
            <a:r>
              <a:rPr lang="it-IT" b="1" dirty="0">
                <a:solidFill>
                  <a:schemeClr val="accent1"/>
                </a:solidFill>
              </a:rPr>
              <a:t> </a:t>
            </a:r>
            <a:r>
              <a:rPr lang="it-IT" b="1" dirty="0" err="1">
                <a:solidFill>
                  <a:schemeClr val="accent1"/>
                </a:solidFill>
              </a:rPr>
              <a:t>nodes</a:t>
            </a:r>
            <a:endParaRPr lang="it-IT" b="1" dirty="0">
              <a:solidFill>
                <a:schemeClr val="accent1"/>
              </a:solidFill>
            </a:endParaRPr>
          </a:p>
          <a:p>
            <a:r>
              <a:rPr lang="it-IT" b="1" dirty="0">
                <a:solidFill>
                  <a:schemeClr val="accent5"/>
                </a:solidFill>
              </a:rPr>
              <a:t>Base </a:t>
            </a:r>
            <a:r>
              <a:rPr lang="it-IT" b="1" dirty="0" err="1">
                <a:solidFill>
                  <a:schemeClr val="accent5"/>
                </a:solidFill>
              </a:rPr>
              <a:t>node</a:t>
            </a:r>
            <a:endParaRPr lang="it-IT" b="1" dirty="0">
              <a:solidFill>
                <a:schemeClr val="accent5"/>
              </a:solidFill>
            </a:endParaRP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1CCB140A-FA0D-5449-1D89-15B0C6227CDB}"/>
              </a:ext>
            </a:extLst>
          </p:cNvPr>
          <p:cNvSpPr/>
          <p:nvPr/>
        </p:nvSpPr>
        <p:spPr>
          <a:xfrm>
            <a:off x="184826" y="219399"/>
            <a:ext cx="234271" cy="19889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E275F255-D0E4-F9DA-F961-518BB7345331}"/>
              </a:ext>
            </a:extLst>
          </p:cNvPr>
          <p:cNvSpPr/>
          <p:nvPr/>
        </p:nvSpPr>
        <p:spPr>
          <a:xfrm>
            <a:off x="184825" y="490470"/>
            <a:ext cx="234271" cy="1988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55356A50-40B0-444D-DB2B-54BBE55B9AB7}"/>
              </a:ext>
            </a:extLst>
          </p:cNvPr>
          <p:cNvSpPr/>
          <p:nvPr/>
        </p:nvSpPr>
        <p:spPr>
          <a:xfrm>
            <a:off x="184824" y="753920"/>
            <a:ext cx="234271" cy="1988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CE7F3423-ADBD-A37B-F45C-3C4B5B8575D7}"/>
              </a:ext>
            </a:extLst>
          </p:cNvPr>
          <p:cNvSpPr/>
          <p:nvPr/>
        </p:nvSpPr>
        <p:spPr>
          <a:xfrm>
            <a:off x="77821" y="82675"/>
            <a:ext cx="1964987" cy="1014479"/>
          </a:xfrm>
          <a:prstGeom prst="roundRect">
            <a:avLst/>
          </a:prstGeom>
          <a:noFill/>
          <a:ln w="50800">
            <a:solidFill>
              <a:srgbClr val="ECE3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975DA015-246E-5F46-26F7-932C0DD8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15</a:t>
            </a:fld>
            <a:endParaRPr lang="it-IT" dirty="0"/>
          </a:p>
        </p:txBody>
      </p:sp>
      <p:pic>
        <p:nvPicPr>
          <p:cNvPr id="23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6D61F1C6-EF8F-EE4D-B6F7-42734EE41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FE2A7352-B317-BF25-5508-2C83489B7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9399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Battery</a:t>
            </a:r>
            <a:r>
              <a:rPr lang="it-IT" b="1" dirty="0"/>
              <a:t> </a:t>
            </a:r>
            <a:r>
              <a:rPr lang="it-IT" b="1" dirty="0" err="1"/>
              <a:t>Recharge</a:t>
            </a:r>
            <a:r>
              <a:rPr lang="it-IT" b="1" dirty="0"/>
              <a:t> - No </a:t>
            </a:r>
            <a:r>
              <a:rPr lang="it-IT" b="1" dirty="0" err="1"/>
              <a:t>Collision</a:t>
            </a:r>
            <a:r>
              <a:rPr lang="it-IT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5158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79C7E-B25F-A8BA-13A6-51AE1EBE3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FE4BA64-03C0-5BF9-693F-EE6CF61FED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097" y="1410312"/>
                <a:ext cx="11366503" cy="427444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/>
                  <a:t>If a drone </a:t>
                </a:r>
                <a:r>
                  <a:rPr lang="it-IT" sz="3100" dirty="0" err="1"/>
                  <a:t>has</a:t>
                </a:r>
                <a:r>
                  <a:rPr lang="it-IT" sz="3100" dirty="0"/>
                  <a:t> high </a:t>
                </a:r>
                <a:r>
                  <a:rPr lang="it-IT" sz="3100" dirty="0" err="1"/>
                  <a:t>battery</a:t>
                </a:r>
                <a:r>
                  <a:rPr lang="it-IT" sz="3100" dirty="0"/>
                  <a:t>, </a:t>
                </a:r>
                <a:r>
                  <a:rPr lang="it-IT" sz="3100" dirty="0" err="1"/>
                  <a:t>it</a:t>
                </a:r>
                <a:r>
                  <a:rPr lang="it-IT" sz="3100" dirty="0"/>
                  <a:t> </a:t>
                </a:r>
                <a:r>
                  <a:rPr lang="it-IT" sz="3100" dirty="0" err="1"/>
                  <a:t>should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reach</a:t>
                </a:r>
                <a:r>
                  <a:rPr lang="it-IT" sz="3100" dirty="0"/>
                  <a:t> the target </a:t>
                </a:r>
                <a:r>
                  <a:rPr lang="it-IT" sz="3100" dirty="0" err="1"/>
                  <a:t>region</a:t>
                </a:r>
                <a:r>
                  <a:rPr lang="it-IT" sz="3100" dirty="0"/>
                  <a:t> </a:t>
                </a:r>
                <a:r>
                  <a:rPr lang="it-IT" sz="3100" dirty="0" err="1"/>
                  <a:t>within</a:t>
                </a:r>
                <a:r>
                  <a:rPr lang="it-IT" sz="3100" dirty="0"/>
                  <a:t> a </a:t>
                </a:r>
                <a:r>
                  <a:rPr lang="it-IT" sz="3100" dirty="0" err="1"/>
                  <a:t>given</a:t>
                </a:r>
                <a:r>
                  <a:rPr lang="it-IT" sz="3100" dirty="0"/>
                  <a:t> time </a:t>
                </a:r>
                <a:r>
                  <a:rPr lang="it-IT" sz="3100" dirty="0" err="1"/>
                  <a:t>horizon</a:t>
                </a: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sz="3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𝐡𝐢𝐠𝐡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𝐛𝐚𝐭𝐭𝐞𝐫𝐲</m:t>
                      </m:r>
                      <m:r>
                        <a:rPr lang="it-IT" sz="3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d>
                        <m:d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𝐚𝐥𝐢𝐯𝐞</m:t>
                              </m:r>
                              <m:r>
                                <a:rPr lang="it-IT" sz="3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3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𝐑𝐞𝐚𝐜𝐡</m:t>
                              </m:r>
                            </m:e>
                            <m: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34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𝐚𝐭</m:t>
                          </m:r>
                          <m:r>
                            <a:rPr lang="it-IT" sz="34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it-IT" sz="3400" b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𝐭𝐚𝐫𝐠𝐞𝐭</m:t>
                          </m:r>
                        </m:e>
                      </m:d>
                    </m:oMath>
                  </m:oMathPara>
                </a14:m>
                <a:endParaRPr lang="it-IT" sz="3400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 err="1"/>
                  <a:t>If</a:t>
                </a:r>
                <a:r>
                  <a:rPr lang="it-IT" sz="3100" dirty="0"/>
                  <a:t> a drone </a:t>
                </a:r>
                <a:r>
                  <a:rPr lang="it-IT" sz="3100" dirty="0" err="1"/>
                  <a:t>has</a:t>
                </a:r>
                <a:r>
                  <a:rPr lang="it-IT" sz="3100" dirty="0"/>
                  <a:t> low </a:t>
                </a:r>
                <a:r>
                  <a:rPr lang="it-IT" sz="3100" dirty="0" err="1"/>
                  <a:t>battery</a:t>
                </a:r>
                <a:r>
                  <a:rPr lang="it-IT" sz="3100" dirty="0"/>
                  <a:t>, </a:t>
                </a:r>
                <a:r>
                  <a:rPr lang="it-IT" sz="3100" dirty="0" err="1"/>
                  <a:t>it</a:t>
                </a:r>
                <a:r>
                  <a:rPr lang="it-IT" sz="3100" dirty="0"/>
                  <a:t> </a:t>
                </a:r>
                <a:r>
                  <a:rPr lang="it-IT" sz="3100" dirty="0" err="1"/>
                  <a:t>should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reach</a:t>
                </a:r>
                <a:r>
                  <a:rPr lang="it-IT" sz="3100" dirty="0"/>
                  <a:t> a </a:t>
                </a:r>
                <a:r>
                  <a:rPr lang="it-IT" sz="3100" dirty="0" err="1"/>
                  <a:t>charging</a:t>
                </a:r>
                <a:r>
                  <a:rPr lang="it-IT" sz="3100" dirty="0"/>
                  <a:t> base and </a:t>
                </a:r>
                <a:r>
                  <a:rPr lang="it-IT" sz="3100" dirty="0" err="1"/>
                  <a:t>remain</a:t>
                </a:r>
                <a:r>
                  <a:rPr lang="it-IT" sz="3100" dirty="0"/>
                  <a:t> </a:t>
                </a:r>
                <a:r>
                  <a:rPr lang="it-IT" sz="3100" dirty="0" err="1"/>
                  <a:t>there</a:t>
                </a:r>
                <a:r>
                  <a:rPr lang="it-IT" sz="3100" dirty="0"/>
                  <a:t> </a:t>
                </a:r>
                <a:r>
                  <a:rPr lang="it-IT" sz="3100" dirty="0" err="1"/>
                  <a:t>until</a:t>
                </a:r>
                <a:r>
                  <a:rPr lang="it-IT" sz="3100" dirty="0"/>
                  <a:t> </a:t>
                </a:r>
                <a:r>
                  <a:rPr lang="it-IT" sz="3100" dirty="0" err="1"/>
                  <a:t>sufficiently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recharged</a:t>
                </a: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it-IT" sz="3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𝐥𝐨𝐰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𝐛𝐚𝐭𝐭𝐞𝐫𝐲</m:t>
                      </m:r>
                      <m:r>
                        <a:rPr lang="it-IT" sz="3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d>
                        <m:d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400" b="1" i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𝐚𝐥𝐢𝐯𝐞</m:t>
                                  </m:r>
                                  <m:r>
                                    <a:rPr lang="it-IT" sz="34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it-IT" sz="34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𝐑𝐞𝐚𝐜𝐡</m:t>
                                  </m:r>
                                </m:e>
                                <m: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34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</m:e>
                                        <m:sub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it-IT" sz="34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</m:e>
                                        <m:sub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r>
                                <a:rPr lang="it-IT" sz="3400" b="1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𝐟𝐫𝐞𝐞</m:t>
                              </m:r>
                              <m:r>
                                <a:rPr lang="it-IT" sz="3400" b="1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it-IT" sz="3400" b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𝐛𝐚𝐬𝐞</m:t>
                              </m:r>
                            </m:e>
                          </m:d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3400" b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𝐟𝐮𝐥𝐥</m:t>
                          </m:r>
                          <m:r>
                            <a:rPr lang="it-IT" sz="34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it-IT" sz="3400" b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𝐛𝐚𝐭𝐭𝐞𝐫𝐲</m:t>
                          </m:r>
                        </m:e>
                      </m:d>
                    </m:oMath>
                  </m:oMathPara>
                </a14:m>
                <a:endParaRPr lang="it-IT" sz="3400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/>
                  <a:t>A drone </a:t>
                </a:r>
                <a:r>
                  <a:rPr lang="it-IT" sz="3100" dirty="0" err="1"/>
                  <a:t>should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remain</a:t>
                </a:r>
                <a:r>
                  <a:rPr lang="it-IT" sz="3100" dirty="0"/>
                  <a:t> </a:t>
                </a:r>
                <a:r>
                  <a:rPr lang="it-IT" sz="3100" dirty="0" err="1"/>
                  <a:t>alive</a:t>
                </a:r>
                <a:r>
                  <a:rPr lang="it-IT" sz="3100" dirty="0"/>
                  <a:t> </a:t>
                </a:r>
                <a:r>
                  <a:rPr lang="it-IT" sz="3100" dirty="0" err="1"/>
                  <a:t>at</a:t>
                </a:r>
                <a:r>
                  <a:rPr lang="it-IT" sz="3100" dirty="0"/>
                  <a:t> </a:t>
                </a:r>
                <a:r>
                  <a:rPr lang="it-IT" sz="3100" dirty="0" err="1"/>
                  <a:t>all</a:t>
                </a:r>
                <a:r>
                  <a:rPr lang="it-IT" sz="3100" dirty="0"/>
                  <a:t> times, </a:t>
                </a:r>
                <a:r>
                  <a:rPr lang="it-IT" sz="3100" dirty="0" err="1"/>
                  <a:t>meaning</a:t>
                </a:r>
                <a:r>
                  <a:rPr lang="it-IT" sz="3100" dirty="0"/>
                  <a:t> </a:t>
                </a:r>
                <a:r>
                  <a:rPr lang="it-IT" sz="3100" dirty="0" err="1"/>
                  <a:t>keep</a:t>
                </a:r>
                <a:r>
                  <a:rPr lang="it-IT" sz="3100" dirty="0"/>
                  <a:t> the </a:t>
                </a:r>
                <a:r>
                  <a:rPr lang="it-IT" sz="3100" dirty="0" err="1"/>
                  <a:t>battery</a:t>
                </a:r>
                <a:r>
                  <a:rPr lang="it-IT" sz="3100" dirty="0"/>
                  <a:t> </a:t>
                </a:r>
                <a:r>
                  <a:rPr lang="it-IT" sz="3100" dirty="0" err="1"/>
                  <a:t>level</a:t>
                </a:r>
                <a:r>
                  <a:rPr lang="it-IT" sz="3100" dirty="0"/>
                  <a:t> non-negative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it-IT" sz="3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𝐚𝐥𝐢𝐯𝐞</m:t>
                      </m:r>
                    </m:oMath>
                  </m:oMathPara>
                </a14:m>
                <a:endParaRPr lang="it-IT" sz="3200" dirty="0"/>
              </a:p>
              <a:p>
                <a:endParaRPr lang="it-IT" dirty="0"/>
              </a:p>
              <a:p>
                <a:pPr marL="0" indent="0">
                  <a:buNone/>
                </a:pPr>
                <a:endParaRPr lang="it-IT" sz="2400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FE4BA64-03C0-5BF9-693F-EE6CF61FED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097" y="1410312"/>
                <a:ext cx="11366503" cy="4274441"/>
              </a:xfrm>
              <a:blipFill>
                <a:blip r:embed="rId3"/>
                <a:stretch>
                  <a:fillRect l="-894" t="-1775" r="-6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BF6A06D3-CBE8-B641-D8C0-9165D1F20EBB}"/>
              </a:ext>
            </a:extLst>
          </p:cNvPr>
          <p:cNvSpPr txBox="1"/>
          <p:nvPr/>
        </p:nvSpPr>
        <p:spPr>
          <a:xfrm>
            <a:off x="419095" y="1265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accent2"/>
                </a:solidFill>
              </a:rPr>
              <a:t>D</a:t>
            </a:r>
            <a:r>
              <a:rPr lang="it-IT" sz="1800" b="1" dirty="0">
                <a:solidFill>
                  <a:schemeClr val="accent2"/>
                </a:solidFill>
              </a:rPr>
              <a:t>rone </a:t>
            </a:r>
            <a:r>
              <a:rPr lang="it-IT" sz="1800" b="1" dirty="0" err="1">
                <a:solidFill>
                  <a:schemeClr val="accent2"/>
                </a:solidFill>
              </a:rPr>
              <a:t>nodes</a:t>
            </a:r>
            <a:endParaRPr lang="it-IT" sz="1800" b="1" dirty="0">
              <a:solidFill>
                <a:schemeClr val="accent2"/>
              </a:solidFill>
            </a:endParaRPr>
          </a:p>
          <a:p>
            <a:r>
              <a:rPr lang="it-IT" b="1" dirty="0" err="1">
                <a:solidFill>
                  <a:schemeClr val="accent1"/>
                </a:solidFill>
              </a:rPr>
              <a:t>Grid</a:t>
            </a:r>
            <a:r>
              <a:rPr lang="it-IT" b="1" dirty="0">
                <a:solidFill>
                  <a:schemeClr val="accent1"/>
                </a:solidFill>
              </a:rPr>
              <a:t> </a:t>
            </a:r>
            <a:r>
              <a:rPr lang="it-IT" b="1" dirty="0" err="1">
                <a:solidFill>
                  <a:schemeClr val="accent1"/>
                </a:solidFill>
              </a:rPr>
              <a:t>nodes</a:t>
            </a:r>
            <a:endParaRPr lang="it-IT" b="1" dirty="0">
              <a:solidFill>
                <a:schemeClr val="accent1"/>
              </a:solidFill>
            </a:endParaRPr>
          </a:p>
          <a:p>
            <a:r>
              <a:rPr lang="it-IT" b="1" dirty="0">
                <a:solidFill>
                  <a:schemeClr val="accent5"/>
                </a:solidFill>
              </a:rPr>
              <a:t>Base </a:t>
            </a:r>
            <a:r>
              <a:rPr lang="it-IT" b="1" dirty="0" err="1">
                <a:solidFill>
                  <a:schemeClr val="accent5"/>
                </a:solidFill>
              </a:rPr>
              <a:t>node</a:t>
            </a:r>
            <a:endParaRPr lang="it-IT" b="1" dirty="0">
              <a:solidFill>
                <a:schemeClr val="accent5"/>
              </a:solidFill>
            </a:endParaRP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8B9C26F3-7B1C-C449-80CB-CDE2A8E37476}"/>
              </a:ext>
            </a:extLst>
          </p:cNvPr>
          <p:cNvSpPr/>
          <p:nvPr/>
        </p:nvSpPr>
        <p:spPr>
          <a:xfrm>
            <a:off x="184826" y="219399"/>
            <a:ext cx="234271" cy="19889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F382A7C7-B596-3FB4-659F-D1867A186BEF}"/>
              </a:ext>
            </a:extLst>
          </p:cNvPr>
          <p:cNvSpPr/>
          <p:nvPr/>
        </p:nvSpPr>
        <p:spPr>
          <a:xfrm>
            <a:off x="184825" y="490470"/>
            <a:ext cx="234271" cy="1988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6B2F88C8-B5B8-BB5B-CECB-3A3FE4A5E54B}"/>
              </a:ext>
            </a:extLst>
          </p:cNvPr>
          <p:cNvSpPr/>
          <p:nvPr/>
        </p:nvSpPr>
        <p:spPr>
          <a:xfrm>
            <a:off x="184824" y="753920"/>
            <a:ext cx="234271" cy="1988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0610300B-3667-61D4-88DF-278BDD8E77C8}"/>
              </a:ext>
            </a:extLst>
          </p:cNvPr>
          <p:cNvSpPr/>
          <p:nvPr/>
        </p:nvSpPr>
        <p:spPr>
          <a:xfrm>
            <a:off x="77821" y="82675"/>
            <a:ext cx="1964987" cy="1014479"/>
          </a:xfrm>
          <a:prstGeom prst="roundRect">
            <a:avLst/>
          </a:prstGeom>
          <a:noFill/>
          <a:ln w="50800">
            <a:solidFill>
              <a:srgbClr val="ECE3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127DADBE-071C-8969-DBD9-129A7BBA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16</a:t>
            </a:fld>
            <a:endParaRPr lang="it-IT" dirty="0"/>
          </a:p>
        </p:txBody>
      </p:sp>
      <p:pic>
        <p:nvPicPr>
          <p:cNvPr id="23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46B0409E-68E0-6C51-8F59-8F6C5EA73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1BDDF54C-6F3C-4E70-6DC8-50B09F078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9399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Battery</a:t>
            </a:r>
            <a:r>
              <a:rPr lang="it-IT" b="1" dirty="0"/>
              <a:t> </a:t>
            </a:r>
            <a:r>
              <a:rPr lang="it-IT" b="1" dirty="0" err="1"/>
              <a:t>Recharge</a:t>
            </a:r>
            <a:r>
              <a:rPr lang="it-IT" b="1" dirty="0"/>
              <a:t> - No </a:t>
            </a:r>
            <a:r>
              <a:rPr lang="it-IT" b="1" dirty="0" err="1"/>
              <a:t>Collision</a:t>
            </a:r>
            <a:r>
              <a:rPr lang="it-IT" b="1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62E188B6-63CA-00DD-93AC-954625CE96D2}"/>
                  </a:ext>
                </a:extLst>
              </p:cNvPr>
              <p:cNvSpPr txBox="1"/>
              <p:nvPr/>
            </p:nvSpPr>
            <p:spPr>
              <a:xfrm>
                <a:off x="6941574" y="5420387"/>
                <a:ext cx="441222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24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𝐚𝐥𝐢𝐯𝐞</m:t>
                    </m:r>
                  </m:oMath>
                </a14:m>
                <a:r>
                  <a:rPr lang="it-IT" sz="2400" dirty="0">
                    <a:solidFill>
                      <a:schemeClr val="bg1"/>
                    </a:solidFill>
                  </a:rPr>
                  <a:t>: atomic predicate restricted to drone </a:t>
                </a:r>
                <a:r>
                  <a:rPr lang="it-IT" sz="2400" dirty="0" err="1">
                    <a:solidFill>
                      <a:schemeClr val="bg1"/>
                    </a:solidFill>
                  </a:rPr>
                  <a:t>nodes</a:t>
                </a:r>
                <a:r>
                  <a:rPr lang="it-IT" sz="2400" dirty="0">
                    <a:solidFill>
                      <a:schemeClr val="bg1"/>
                    </a:solidFill>
                  </a:rPr>
                  <a:t> with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it-IT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attery</m:t>
                    </m:r>
                    <m:r>
                      <a:rPr lang="it-IT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&gt;0.05</m:t>
                    </m:r>
                  </m:oMath>
                </a14:m>
                <a:r>
                  <a:rPr lang="it-IT" sz="2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62E188B6-63CA-00DD-93AC-954625CE9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574" y="5420387"/>
                <a:ext cx="4412225" cy="1200329"/>
              </a:xfrm>
              <a:prstGeom prst="rect">
                <a:avLst/>
              </a:prstGeom>
              <a:blipFill>
                <a:blip r:embed="rId5"/>
                <a:stretch>
                  <a:fillRect t="-4167" b="-41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911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2A49-1DA2-F889-0771-FAD550AE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2FF7836-99C0-5244-E3EE-116B293D0C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097" y="1410312"/>
                <a:ext cx="11366503" cy="427444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/>
                  <a:t>If a drone </a:t>
                </a:r>
                <a:r>
                  <a:rPr lang="it-IT" sz="3100" dirty="0" err="1"/>
                  <a:t>has</a:t>
                </a:r>
                <a:r>
                  <a:rPr lang="it-IT" sz="3100" dirty="0"/>
                  <a:t> high </a:t>
                </a:r>
                <a:r>
                  <a:rPr lang="it-IT" sz="3100" dirty="0" err="1"/>
                  <a:t>battery</a:t>
                </a:r>
                <a:r>
                  <a:rPr lang="it-IT" sz="3100" dirty="0"/>
                  <a:t>, </a:t>
                </a:r>
                <a:r>
                  <a:rPr lang="it-IT" sz="3100" dirty="0" err="1"/>
                  <a:t>it</a:t>
                </a:r>
                <a:r>
                  <a:rPr lang="it-IT" sz="3100" dirty="0"/>
                  <a:t> </a:t>
                </a:r>
                <a:r>
                  <a:rPr lang="it-IT" sz="3100" dirty="0" err="1"/>
                  <a:t>should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reach</a:t>
                </a:r>
                <a:r>
                  <a:rPr lang="it-IT" sz="3100" dirty="0"/>
                  <a:t> the target </a:t>
                </a:r>
                <a:r>
                  <a:rPr lang="it-IT" sz="3100" dirty="0" err="1"/>
                  <a:t>region</a:t>
                </a:r>
                <a:r>
                  <a:rPr lang="it-IT" sz="3100" dirty="0"/>
                  <a:t> </a:t>
                </a:r>
                <a:r>
                  <a:rPr lang="it-IT" sz="3100" dirty="0" err="1"/>
                  <a:t>within</a:t>
                </a:r>
                <a:r>
                  <a:rPr lang="it-IT" sz="3100" dirty="0"/>
                  <a:t> a </a:t>
                </a:r>
                <a:r>
                  <a:rPr lang="it-IT" sz="3100" dirty="0" err="1"/>
                  <a:t>given</a:t>
                </a:r>
                <a:r>
                  <a:rPr lang="it-IT" sz="3100" dirty="0"/>
                  <a:t> time </a:t>
                </a:r>
                <a:r>
                  <a:rPr lang="it-IT" sz="3100" dirty="0" err="1"/>
                  <a:t>horizon</a:t>
                </a: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sz="3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𝐡𝐢𝐠𝐡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𝐛𝐚𝐭𝐭𝐞𝐫𝐲</m:t>
                      </m:r>
                      <m:r>
                        <a:rPr lang="it-IT" sz="3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d>
                        <m:d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𝐚𝐥𝐢𝐯𝐞</m:t>
                              </m:r>
                              <m:r>
                                <a:rPr lang="it-IT" sz="3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3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𝐑𝐞𝐚𝐜𝐡</m:t>
                              </m:r>
                            </m:e>
                            <m: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34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𝐚𝐭</m:t>
                          </m:r>
                          <m:r>
                            <a:rPr lang="it-IT" sz="34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it-IT" sz="3400" b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𝐭𝐚𝐫𝐠𝐞𝐭</m:t>
                          </m:r>
                        </m:e>
                      </m:d>
                    </m:oMath>
                  </m:oMathPara>
                </a14:m>
                <a:endParaRPr lang="it-IT" sz="3400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 err="1"/>
                  <a:t>If</a:t>
                </a:r>
                <a:r>
                  <a:rPr lang="it-IT" sz="3100" dirty="0"/>
                  <a:t> a drone </a:t>
                </a:r>
                <a:r>
                  <a:rPr lang="it-IT" sz="3100" dirty="0" err="1"/>
                  <a:t>has</a:t>
                </a:r>
                <a:r>
                  <a:rPr lang="it-IT" sz="3100" dirty="0"/>
                  <a:t> low </a:t>
                </a:r>
                <a:r>
                  <a:rPr lang="it-IT" sz="3100" dirty="0" err="1"/>
                  <a:t>battery</a:t>
                </a:r>
                <a:r>
                  <a:rPr lang="it-IT" sz="3100" dirty="0"/>
                  <a:t>, </a:t>
                </a:r>
                <a:r>
                  <a:rPr lang="it-IT" sz="3100" dirty="0" err="1"/>
                  <a:t>it</a:t>
                </a:r>
                <a:r>
                  <a:rPr lang="it-IT" sz="3100" dirty="0"/>
                  <a:t> </a:t>
                </a:r>
                <a:r>
                  <a:rPr lang="it-IT" sz="3100" dirty="0" err="1"/>
                  <a:t>should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reach</a:t>
                </a:r>
                <a:r>
                  <a:rPr lang="it-IT" sz="3100" dirty="0"/>
                  <a:t> a </a:t>
                </a:r>
                <a:r>
                  <a:rPr lang="it-IT" sz="3100" dirty="0" err="1"/>
                  <a:t>charging</a:t>
                </a:r>
                <a:r>
                  <a:rPr lang="it-IT" sz="3100" dirty="0"/>
                  <a:t> base and </a:t>
                </a:r>
                <a:r>
                  <a:rPr lang="it-IT" sz="3100" dirty="0" err="1"/>
                  <a:t>remain</a:t>
                </a:r>
                <a:r>
                  <a:rPr lang="it-IT" sz="3100" dirty="0"/>
                  <a:t> </a:t>
                </a:r>
                <a:r>
                  <a:rPr lang="it-IT" sz="3100" dirty="0" err="1"/>
                  <a:t>there</a:t>
                </a:r>
                <a:r>
                  <a:rPr lang="it-IT" sz="3100" dirty="0"/>
                  <a:t> </a:t>
                </a:r>
                <a:r>
                  <a:rPr lang="it-IT" sz="3100" dirty="0" err="1"/>
                  <a:t>until</a:t>
                </a:r>
                <a:r>
                  <a:rPr lang="it-IT" sz="3100" dirty="0"/>
                  <a:t> </a:t>
                </a:r>
                <a:r>
                  <a:rPr lang="it-IT" sz="3100" dirty="0" err="1"/>
                  <a:t>sufficiently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recharged</a:t>
                </a: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it-IT" sz="3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𝐥𝐨𝐰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𝐛𝐚𝐭𝐭𝐞𝐫𝐲</m:t>
                      </m:r>
                      <m:r>
                        <a:rPr lang="it-IT" sz="3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d>
                        <m:dPr>
                          <m:ctrlP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it-IT" sz="3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3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400" b="1" i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𝐚𝐥𝐢𝐯𝐞</m:t>
                                  </m:r>
                                  <m:r>
                                    <a:rPr lang="it-IT" sz="34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it-IT" sz="34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𝐑𝐞𝐚𝐜𝐡</m:t>
                                  </m:r>
                                </m:e>
                                <m: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34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</m:e>
                                        <m:sub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it-IT" sz="34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</m:e>
                                        <m:sub>
                                          <m:r>
                                            <a:rPr lang="it-IT" sz="3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r>
                                <a:rPr lang="it-IT" sz="3400" b="1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𝐟𝐫𝐞𝐞</m:t>
                              </m:r>
                              <m:r>
                                <a:rPr lang="it-IT" sz="3400" b="1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it-IT" sz="3400" b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𝐛𝐚𝐬𝐞</m:t>
                              </m:r>
                            </m:e>
                          </m:d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3400" b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𝐟𝐮𝐥𝐥</m:t>
                          </m:r>
                          <m:r>
                            <a:rPr lang="it-IT" sz="34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it-IT" sz="3400" b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𝐛𝐚𝐭𝐭𝐞𝐫𝐲</m:t>
                          </m:r>
                        </m:e>
                      </m:d>
                    </m:oMath>
                  </m:oMathPara>
                </a14:m>
                <a:endParaRPr lang="it-IT" sz="3400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it-IT" sz="31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3100" dirty="0"/>
                  <a:t>A drone </a:t>
                </a:r>
                <a:r>
                  <a:rPr lang="it-IT" sz="3100" dirty="0" err="1"/>
                  <a:t>should</a:t>
                </a:r>
                <a:r>
                  <a:rPr lang="it-IT" sz="3100" dirty="0"/>
                  <a:t> </a:t>
                </a:r>
                <a:r>
                  <a:rPr lang="it-IT" sz="3100" dirty="0" err="1"/>
                  <a:t>remain</a:t>
                </a:r>
                <a:r>
                  <a:rPr lang="it-IT" sz="3100" dirty="0"/>
                  <a:t> </a:t>
                </a:r>
                <a:r>
                  <a:rPr lang="it-IT" sz="3100" dirty="0" err="1"/>
                  <a:t>alive</a:t>
                </a:r>
                <a:r>
                  <a:rPr lang="it-IT" sz="3100" dirty="0"/>
                  <a:t> </a:t>
                </a:r>
                <a:r>
                  <a:rPr lang="it-IT" sz="3100" dirty="0" err="1"/>
                  <a:t>at</a:t>
                </a:r>
                <a:r>
                  <a:rPr lang="it-IT" sz="3100" dirty="0"/>
                  <a:t> </a:t>
                </a:r>
                <a:r>
                  <a:rPr lang="it-IT" sz="3100" dirty="0" err="1"/>
                  <a:t>all</a:t>
                </a:r>
                <a:r>
                  <a:rPr lang="it-IT" sz="3100" dirty="0"/>
                  <a:t> times, </a:t>
                </a:r>
                <a:r>
                  <a:rPr lang="it-IT" sz="3100" dirty="0" err="1"/>
                  <a:t>meaning</a:t>
                </a:r>
                <a:r>
                  <a:rPr lang="it-IT" sz="3100" dirty="0"/>
                  <a:t> </a:t>
                </a:r>
                <a:r>
                  <a:rPr lang="it-IT" sz="3100" dirty="0" err="1"/>
                  <a:t>keep</a:t>
                </a:r>
                <a:r>
                  <a:rPr lang="it-IT" sz="3100" dirty="0"/>
                  <a:t> the </a:t>
                </a:r>
                <a:r>
                  <a:rPr lang="it-IT" sz="3100" dirty="0" err="1"/>
                  <a:t>battery</a:t>
                </a:r>
                <a:r>
                  <a:rPr lang="it-IT" sz="3100" dirty="0"/>
                  <a:t> </a:t>
                </a:r>
                <a:r>
                  <a:rPr lang="it-IT" sz="3100" dirty="0" err="1"/>
                  <a:t>level</a:t>
                </a:r>
                <a:r>
                  <a:rPr lang="it-IT" sz="3100" dirty="0"/>
                  <a:t> non-negative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3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it-IT" sz="3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4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𝐚𝐥𝐢𝐯𝐞</m:t>
                      </m:r>
                    </m:oMath>
                  </m:oMathPara>
                </a14:m>
                <a:endParaRPr lang="it-IT" sz="3200" dirty="0"/>
              </a:p>
              <a:p>
                <a:endParaRPr lang="it-IT" dirty="0"/>
              </a:p>
              <a:p>
                <a:pPr marL="0" indent="0">
                  <a:buNone/>
                </a:pPr>
                <a:endParaRPr lang="it-IT" sz="2400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2FF7836-99C0-5244-E3EE-116B293D0C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097" y="1410312"/>
                <a:ext cx="11366503" cy="4274441"/>
              </a:xfrm>
              <a:blipFill>
                <a:blip r:embed="rId3"/>
                <a:stretch>
                  <a:fillRect l="-894" t="-1775" r="-6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3177F992-74D6-46CF-A163-45E912A4AD11}"/>
              </a:ext>
            </a:extLst>
          </p:cNvPr>
          <p:cNvSpPr txBox="1"/>
          <p:nvPr/>
        </p:nvSpPr>
        <p:spPr>
          <a:xfrm>
            <a:off x="419095" y="1265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accent2"/>
                </a:solidFill>
              </a:rPr>
              <a:t>D</a:t>
            </a:r>
            <a:r>
              <a:rPr lang="it-IT" sz="1800" b="1" dirty="0">
                <a:solidFill>
                  <a:schemeClr val="accent2"/>
                </a:solidFill>
              </a:rPr>
              <a:t>rone </a:t>
            </a:r>
            <a:r>
              <a:rPr lang="it-IT" sz="1800" b="1" dirty="0" err="1">
                <a:solidFill>
                  <a:schemeClr val="accent2"/>
                </a:solidFill>
              </a:rPr>
              <a:t>nodes</a:t>
            </a:r>
            <a:endParaRPr lang="it-IT" sz="1800" b="1" dirty="0">
              <a:solidFill>
                <a:schemeClr val="accent2"/>
              </a:solidFill>
            </a:endParaRPr>
          </a:p>
          <a:p>
            <a:r>
              <a:rPr lang="it-IT" b="1" dirty="0" err="1">
                <a:solidFill>
                  <a:schemeClr val="accent1"/>
                </a:solidFill>
              </a:rPr>
              <a:t>Grid</a:t>
            </a:r>
            <a:r>
              <a:rPr lang="it-IT" b="1" dirty="0">
                <a:solidFill>
                  <a:schemeClr val="accent1"/>
                </a:solidFill>
              </a:rPr>
              <a:t> </a:t>
            </a:r>
            <a:r>
              <a:rPr lang="it-IT" b="1" dirty="0" err="1">
                <a:solidFill>
                  <a:schemeClr val="accent1"/>
                </a:solidFill>
              </a:rPr>
              <a:t>nodes</a:t>
            </a:r>
            <a:endParaRPr lang="it-IT" b="1" dirty="0">
              <a:solidFill>
                <a:schemeClr val="accent1"/>
              </a:solidFill>
            </a:endParaRPr>
          </a:p>
          <a:p>
            <a:r>
              <a:rPr lang="it-IT" b="1" dirty="0">
                <a:solidFill>
                  <a:schemeClr val="accent5"/>
                </a:solidFill>
              </a:rPr>
              <a:t>Base </a:t>
            </a:r>
            <a:r>
              <a:rPr lang="it-IT" b="1" dirty="0" err="1">
                <a:solidFill>
                  <a:schemeClr val="accent5"/>
                </a:solidFill>
              </a:rPr>
              <a:t>node</a:t>
            </a:r>
            <a:endParaRPr lang="it-IT" b="1" dirty="0">
              <a:solidFill>
                <a:schemeClr val="accent5"/>
              </a:solidFill>
            </a:endParaRP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C4F51857-4654-204D-51C7-ED3FBD21986B}"/>
              </a:ext>
            </a:extLst>
          </p:cNvPr>
          <p:cNvSpPr/>
          <p:nvPr/>
        </p:nvSpPr>
        <p:spPr>
          <a:xfrm>
            <a:off x="184826" y="219399"/>
            <a:ext cx="234271" cy="19889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52E0C81-80C1-F108-9AC9-E8B6140C3E54}"/>
              </a:ext>
            </a:extLst>
          </p:cNvPr>
          <p:cNvSpPr/>
          <p:nvPr/>
        </p:nvSpPr>
        <p:spPr>
          <a:xfrm>
            <a:off x="184825" y="490470"/>
            <a:ext cx="234271" cy="1988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2755B03F-F7EE-582C-5C77-A77E999D3973}"/>
              </a:ext>
            </a:extLst>
          </p:cNvPr>
          <p:cNvSpPr/>
          <p:nvPr/>
        </p:nvSpPr>
        <p:spPr>
          <a:xfrm>
            <a:off x="184824" y="753920"/>
            <a:ext cx="234271" cy="1988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C268667-FC39-F8D9-1A8B-D05FBE13A768}"/>
              </a:ext>
            </a:extLst>
          </p:cNvPr>
          <p:cNvSpPr/>
          <p:nvPr/>
        </p:nvSpPr>
        <p:spPr>
          <a:xfrm>
            <a:off x="77821" y="82675"/>
            <a:ext cx="1964987" cy="1014479"/>
          </a:xfrm>
          <a:prstGeom prst="roundRect">
            <a:avLst/>
          </a:prstGeom>
          <a:noFill/>
          <a:ln w="50800">
            <a:solidFill>
              <a:srgbClr val="ECE3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CD6DD842-1B8B-25B4-B2C3-349AE4D2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17</a:t>
            </a:fld>
            <a:endParaRPr lang="it-IT" dirty="0"/>
          </a:p>
        </p:txBody>
      </p:sp>
      <p:pic>
        <p:nvPicPr>
          <p:cNvPr id="23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0DF658E9-AAA5-A733-C932-8721BB64B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F93AAEF2-E9E1-081D-A124-085B9D36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9399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Battery</a:t>
            </a:r>
            <a:r>
              <a:rPr lang="it-IT" b="1" dirty="0"/>
              <a:t> </a:t>
            </a:r>
            <a:r>
              <a:rPr lang="it-IT" b="1" dirty="0" err="1"/>
              <a:t>Recharge</a:t>
            </a:r>
            <a:r>
              <a:rPr lang="it-IT" b="1" dirty="0"/>
              <a:t> - No </a:t>
            </a:r>
            <a:r>
              <a:rPr lang="it-IT" b="1" dirty="0" err="1"/>
              <a:t>Collision</a:t>
            </a:r>
            <a:r>
              <a:rPr lang="it-IT" b="1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9FE9907-9884-6167-E8A3-3E8B901CD418}"/>
                  </a:ext>
                </a:extLst>
              </p:cNvPr>
              <p:cNvSpPr txBox="1"/>
              <p:nvPr/>
            </p:nvSpPr>
            <p:spPr>
              <a:xfrm>
                <a:off x="1175851" y="5659442"/>
                <a:ext cx="10194822" cy="963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2400" dirty="0"/>
                  <a:t>The </a:t>
                </a:r>
                <a:r>
                  <a:rPr lang="it-IT" sz="2400" dirty="0" err="1"/>
                  <a:t>drones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should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not</a:t>
                </a:r>
                <a:r>
                  <a:rPr lang="it-IT" sz="2400" dirty="0"/>
                  <a:t> be </a:t>
                </a:r>
                <a:r>
                  <a:rPr lang="it-IT" sz="2400" dirty="0" err="1"/>
                  <a:t>closer</a:t>
                </a:r>
                <a:r>
                  <a:rPr lang="it-IT" sz="2400" dirty="0"/>
                  <a:t> </a:t>
                </a:r>
                <a:r>
                  <a:rPr lang="it-IT" sz="2400" dirty="0" err="1"/>
                  <a:t>than</a:t>
                </a:r>
                <a:r>
                  <a:rPr lang="it-IT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</m:oMath>
                </a14:m>
                <a:endParaRPr lang="it-IT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it-IT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it-IT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it-IT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it-IT" sz="2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it-IT" sz="2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2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it-IT" sz="2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sz="2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it-IT" sz="2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it-IT" sz="2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it-IT" sz="2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it-IT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it-IT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it-IT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𝒔𝒂𝒇𝒆</m:t>
                          </m:r>
                        </m:sub>
                      </m:sSub>
                    </m:oMath>
                  </m:oMathPara>
                </a14:m>
                <a:endParaRPr lang="it-IT" sz="2600" b="1" dirty="0"/>
              </a:p>
            </p:txBody>
          </p:sp>
        </mc:Choice>
        <mc:Fallback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9FE9907-9884-6167-E8A3-3E8B901CD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851" y="5659442"/>
                <a:ext cx="10194822" cy="963021"/>
              </a:xfrm>
              <a:prstGeom prst="rect">
                <a:avLst/>
              </a:prstGeom>
              <a:blipFill>
                <a:blip r:embed="rId5"/>
                <a:stretch>
                  <a:fillRect l="-995" t="-3896" b="-25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8959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55EA67-11EB-0520-E79D-83510DDB3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18</a:t>
            </a:fld>
            <a:endParaRPr lang="it-IT"/>
          </a:p>
        </p:txBody>
      </p:sp>
      <p:pic>
        <p:nvPicPr>
          <p:cNvPr id="5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00CA1693-CC76-FFB8-F9C5-D4A84DB3F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65720279-4F0D-82B5-7EF2-106EB84A8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9399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Battery</a:t>
            </a:r>
            <a:r>
              <a:rPr lang="it-IT" b="1" dirty="0"/>
              <a:t> </a:t>
            </a:r>
            <a:r>
              <a:rPr lang="it-IT" b="1" dirty="0" err="1"/>
              <a:t>Recharge</a:t>
            </a:r>
            <a:r>
              <a:rPr lang="it-IT" b="1" dirty="0"/>
              <a:t> - No </a:t>
            </a:r>
            <a:r>
              <a:rPr lang="it-IT" b="1" dirty="0" err="1"/>
              <a:t>Collision</a:t>
            </a:r>
            <a:r>
              <a:rPr lang="it-IT" b="1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ttangolo con angoli arrotondati 6">
                <a:extLst>
                  <a:ext uri="{FF2B5EF4-FFF2-40B4-BE49-F238E27FC236}">
                    <a16:creationId xmlns:a16="http://schemas.microsoft.com/office/drawing/2014/main" id="{EC8D5983-D6D5-11E3-57B9-8C244A578D13}"/>
                  </a:ext>
                </a:extLst>
              </p:cNvPr>
              <p:cNvSpPr/>
              <p:nvPr/>
            </p:nvSpPr>
            <p:spPr>
              <a:xfrm>
                <a:off x="1250814" y="2422422"/>
                <a:ext cx="9690371" cy="2013155"/>
              </a:xfrm>
              <a:prstGeom prst="roundRect">
                <a:avLst/>
              </a:prstGeom>
              <a:solidFill>
                <a:srgbClr val="ECE3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𝜱</m:t>
                      </m:r>
                      <m:r>
                        <a:rPr lang="it-IT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it-IT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it-IT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it-IT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  <m:r>
                            <a:rPr lang="it-IT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d>
                        <m:dPr>
                          <m:ctrlPr>
                            <a:rPr lang="it-IT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it-IT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it-IT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it-IT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it-IT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4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ettangolo con angoli arrotondati 6">
                <a:extLst>
                  <a:ext uri="{FF2B5EF4-FFF2-40B4-BE49-F238E27FC236}">
                    <a16:creationId xmlns:a16="http://schemas.microsoft.com/office/drawing/2014/main" id="{EC8D5983-D6D5-11E3-57B9-8C244A578D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814" y="2422422"/>
                <a:ext cx="9690371" cy="201315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744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3FAFA-12DB-DD23-4EB3-2C5D7E561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4B1179-C0B7-CABE-32F7-03644650B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663" y="1730405"/>
            <a:ext cx="10515600" cy="4795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it-IT" sz="3700" b="1" dirty="0"/>
          </a:p>
          <a:p>
            <a:pPr marL="0" indent="0">
              <a:buNone/>
            </a:pPr>
            <a:endParaRPr lang="it-IT" sz="2400" dirty="0"/>
          </a:p>
        </p:txBody>
      </p:sp>
      <p:pic>
        <p:nvPicPr>
          <p:cNvPr id="7" name="Immagine 6" descr="Immagine che contiene linea, Diagramma,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9FAFA2FF-1764-5E58-8A34-F028C4652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12" y="4365701"/>
            <a:ext cx="7772400" cy="24842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8B3CAB7-D2AA-5B94-2498-90C5C561F107}"/>
                  </a:ext>
                </a:extLst>
              </p:cNvPr>
              <p:cNvSpPr txBox="1"/>
              <p:nvPr/>
            </p:nvSpPr>
            <p:spPr>
              <a:xfrm>
                <a:off x="9146849" y="4490942"/>
                <a:ext cx="2756415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it-IT" sz="2000" b="0" i="0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On</a:t>
                </a:r>
                <a:r>
                  <a:rPr lang="it-IT" sz="2000" dirty="0">
                    <a:solidFill>
                      <a:srgbClr val="000000"/>
                    </a:solidFill>
                    <a:latin typeface="Helvetica" pitchFamily="2" charset="0"/>
                  </a:rPr>
                  <a:t> </a:t>
                </a:r>
                <a:r>
                  <a:rPr lang="it-IT" sz="2000" b="0" i="0" dirty="0" err="1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average</a:t>
                </a:r>
                <a:r>
                  <a:rPr lang="it-IT" sz="2000" dirty="0">
                    <a:solidFill>
                      <a:srgbClr val="000000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0.02</m:t>
                    </m:r>
                  </m:oMath>
                </a14:m>
                <a:r>
                  <a:rPr lang="it-IT" sz="2000" b="0" i="0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 </a:t>
                </a:r>
                <a:r>
                  <a:rPr lang="it-IT" sz="2000" b="0" i="0" dirty="0" err="1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collisions</a:t>
                </a:r>
                <a:r>
                  <a:rPr lang="it-IT" sz="2000" b="0" i="0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 per </a:t>
                </a:r>
                <a:r>
                  <a:rPr lang="it-IT" sz="2000" b="0" i="0" dirty="0" err="1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episode</a:t>
                </a:r>
                <a:r>
                  <a:rPr lang="it-IT" sz="2000" b="0" i="0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 are </a:t>
                </a:r>
                <a:r>
                  <a:rPr lang="it-IT" sz="2000" b="0" i="0" dirty="0" err="1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observed</a:t>
                </a:r>
                <a:r>
                  <a:rPr lang="it-IT" sz="2000" b="0" i="0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, with a maximum</a:t>
                </a:r>
                <a:r>
                  <a:rPr lang="it-IT" sz="2000" dirty="0">
                    <a:solidFill>
                      <a:srgbClr val="000000"/>
                    </a:solidFill>
                    <a:latin typeface="Helvetica" pitchFamily="2" charset="0"/>
                  </a:rPr>
                  <a:t> </a:t>
                </a:r>
                <a:r>
                  <a:rPr lang="it-IT" sz="2000" b="0" i="0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it-IT" sz="2000" b="0" i="0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 </a:t>
                </a:r>
                <a:r>
                  <a:rPr lang="it-IT" sz="2000" b="0" i="0" dirty="0" err="1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collisions</a:t>
                </a:r>
                <a:r>
                  <a:rPr lang="it-IT" sz="2000" b="0" i="0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 in a single </a:t>
                </a:r>
                <a:r>
                  <a:rPr lang="it-IT" sz="2000" b="0" i="0" dirty="0" err="1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episode</a:t>
                </a:r>
                <a:endParaRPr lang="it-IT" sz="2000" dirty="0">
                  <a:solidFill>
                    <a:srgbClr val="000000"/>
                  </a:solidFill>
                  <a:effectLst/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8B3CAB7-D2AA-5B94-2498-90C5C561F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849" y="4490942"/>
                <a:ext cx="2756415" cy="1938992"/>
              </a:xfrm>
              <a:prstGeom prst="rect">
                <a:avLst/>
              </a:prstGeom>
              <a:blipFill>
                <a:blip r:embed="rId4"/>
                <a:stretch>
                  <a:fillRect t="-1299" b="-454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F8BF22A3-06BA-C8B9-8EE0-E80F2D120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63" y="927863"/>
            <a:ext cx="3476682" cy="3476682"/>
          </a:xfrm>
          <a:prstGeom prst="rect">
            <a:avLst/>
          </a:prstGeom>
        </p:spPr>
      </p:pic>
      <p:pic>
        <p:nvPicPr>
          <p:cNvPr id="11" name="Immagine 10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ED15BEC7-1F3D-2DA6-DD9C-9402B47A9B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7486" y="927863"/>
            <a:ext cx="3476682" cy="3476682"/>
          </a:xfrm>
          <a:prstGeom prst="rect">
            <a:avLst/>
          </a:prstGeom>
        </p:spPr>
      </p:pic>
      <p:pic>
        <p:nvPicPr>
          <p:cNvPr id="13" name="Immagine 12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45393134-5FC4-F489-250D-6E6732981B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557" y="927863"/>
            <a:ext cx="3437838" cy="3437838"/>
          </a:xfrm>
          <a:prstGeom prst="rect">
            <a:avLst/>
          </a:prstGeom>
        </p:spPr>
      </p:pic>
      <p:pic>
        <p:nvPicPr>
          <p:cNvPr id="14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962FF600-87C9-DAD3-140A-6D4A0082BD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69121" y="71811"/>
            <a:ext cx="1538157" cy="84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315FC5BA-4C7D-6192-B904-0D9B0E1178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1148882" y="91692"/>
            <a:ext cx="916792" cy="50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EE72F19-22F8-8558-29C0-B7F15BB8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19</a:t>
            </a:fld>
            <a:endParaRPr lang="it-IT"/>
          </a:p>
        </p:txBody>
      </p:sp>
      <p:pic>
        <p:nvPicPr>
          <p:cNvPr id="8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5382B2B5-54AE-C3ED-C441-1BCA8D405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olo 1">
            <a:extLst>
              <a:ext uri="{FF2B5EF4-FFF2-40B4-BE49-F238E27FC236}">
                <a16:creationId xmlns:a16="http://schemas.microsoft.com/office/drawing/2014/main" id="{595C8537-A67F-3573-2060-98C31334A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415" y="113301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Battery</a:t>
            </a:r>
            <a:r>
              <a:rPr lang="it-IT" b="1" dirty="0"/>
              <a:t> </a:t>
            </a:r>
            <a:r>
              <a:rPr lang="it-IT" b="1" dirty="0" err="1"/>
              <a:t>Recharge</a:t>
            </a:r>
            <a:r>
              <a:rPr lang="it-IT" b="1" dirty="0"/>
              <a:t> - No </a:t>
            </a:r>
            <a:r>
              <a:rPr lang="it-IT" b="1" dirty="0" err="1"/>
              <a:t>Collision</a:t>
            </a:r>
            <a:r>
              <a:rPr lang="it-IT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20902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800AA-8ED5-878D-42A3-66DF0E86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04B20D-2456-8C62-C919-FB06F6C1A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0053"/>
            <a:ext cx="10515600" cy="4795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it-IT" sz="3700" b="1" dirty="0"/>
          </a:p>
          <a:p>
            <a:pPr marL="0" indent="0">
              <a:buNone/>
            </a:pPr>
            <a:endParaRPr lang="it-IT" sz="2400" dirty="0"/>
          </a:p>
        </p:txBody>
      </p:sp>
      <p:pic>
        <p:nvPicPr>
          <p:cNvPr id="9" name="Immagine 8" descr="Immagine che contiene testo, line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98F6039C-61B5-BB74-653B-3AC3721D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06" y="1708652"/>
            <a:ext cx="11366588" cy="3440696"/>
          </a:xfrm>
          <a:prstGeom prst="rect">
            <a:avLst/>
          </a:prstGeom>
        </p:spPr>
      </p:pic>
      <p:pic>
        <p:nvPicPr>
          <p:cNvPr id="5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D7CA7C1A-F87D-EB0B-AB7D-C1E6B537E7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69121" y="71811"/>
            <a:ext cx="1538157" cy="84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4DFFFA1C-A1C7-7928-61FF-C5DF14D5CB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1148882" y="91692"/>
            <a:ext cx="916792" cy="50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A1D8DCB-0BF8-3CE8-0A9B-99D2B1D64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20</a:t>
            </a:fld>
            <a:endParaRPr lang="it-IT"/>
          </a:p>
        </p:txBody>
      </p:sp>
      <p:pic>
        <p:nvPicPr>
          <p:cNvPr id="8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EC646966-4291-126E-BE24-9D5098E45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ABFA908F-71A2-9C50-FD81-99B4A897A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415" y="113301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Battery</a:t>
            </a:r>
            <a:r>
              <a:rPr lang="it-IT" b="1" dirty="0"/>
              <a:t> </a:t>
            </a:r>
            <a:r>
              <a:rPr lang="it-IT" b="1" dirty="0" err="1"/>
              <a:t>Recharge</a:t>
            </a:r>
            <a:r>
              <a:rPr lang="it-IT" b="1" dirty="0"/>
              <a:t> - No </a:t>
            </a:r>
            <a:r>
              <a:rPr lang="it-IT" b="1" dirty="0" err="1"/>
              <a:t>Collision</a:t>
            </a:r>
            <a:r>
              <a:rPr lang="it-IT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3946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B2A7E-5874-863D-DB4D-A22B1C7E2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559E0F-87F7-3826-0A8D-A2508C53B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0053"/>
            <a:ext cx="10515600" cy="4795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it-IT" sz="3700" b="1" dirty="0"/>
          </a:p>
          <a:p>
            <a:pPr marL="0" indent="0">
              <a:buNone/>
            </a:pPr>
            <a:endParaRPr lang="it-IT" sz="2400" dirty="0"/>
          </a:p>
        </p:txBody>
      </p:sp>
      <p:pic>
        <p:nvPicPr>
          <p:cNvPr id="6" name="Immagine 5" descr="Immagine che contiene testo, line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DDF28346-E5D7-FF54-E874-228CF2BB4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411" y="4058793"/>
            <a:ext cx="9369426" cy="2747056"/>
          </a:xfrm>
          <a:prstGeom prst="rect">
            <a:avLst/>
          </a:prstGeom>
        </p:spPr>
      </p:pic>
      <p:pic>
        <p:nvPicPr>
          <p:cNvPr id="8" name="Immagine 7" descr="Immagine che contiene linea, test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32CFA8AC-5088-DEB9-79B6-BC308D6CB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851" y="1039968"/>
            <a:ext cx="9083675" cy="2971295"/>
          </a:xfrm>
          <a:prstGeom prst="rect">
            <a:avLst/>
          </a:prstGeom>
        </p:spPr>
      </p:pic>
      <p:pic>
        <p:nvPicPr>
          <p:cNvPr id="5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A1E8C0CE-7199-6ED1-D842-176BD3BB03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69121" y="71811"/>
            <a:ext cx="1538157" cy="84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onfronto droni consumer - Confronta la serie Mavic e altri droni consumer  - DJI">
            <a:extLst>
              <a:ext uri="{FF2B5EF4-FFF2-40B4-BE49-F238E27FC236}">
                <a16:creationId xmlns:a16="http://schemas.microsoft.com/office/drawing/2014/main" id="{506F38B6-D2BE-8506-4425-E2E0F8B4DB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24989" r="7246" b="28182"/>
          <a:stretch>
            <a:fillRect/>
          </a:stretch>
        </p:blipFill>
        <p:spPr bwMode="auto">
          <a:xfrm>
            <a:off x="1148882" y="91692"/>
            <a:ext cx="916792" cy="50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77977C-7AF6-024D-D74E-F56B4E528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21</a:t>
            </a:fld>
            <a:endParaRPr lang="it-IT"/>
          </a:p>
        </p:txBody>
      </p:sp>
      <p:pic>
        <p:nvPicPr>
          <p:cNvPr id="10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6B167175-80F4-CDAC-E6B8-33084DFD2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F421B16E-8641-77E2-6E40-D0713006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415" y="113301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Battery</a:t>
            </a:r>
            <a:r>
              <a:rPr lang="it-IT" b="1" dirty="0"/>
              <a:t> </a:t>
            </a:r>
            <a:r>
              <a:rPr lang="it-IT" b="1" dirty="0" err="1"/>
              <a:t>Recharge</a:t>
            </a:r>
            <a:r>
              <a:rPr lang="it-IT" b="1" dirty="0"/>
              <a:t> - No </a:t>
            </a:r>
            <a:r>
              <a:rPr lang="it-IT" b="1" dirty="0" err="1"/>
              <a:t>Collision</a:t>
            </a:r>
            <a:r>
              <a:rPr lang="it-IT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9658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FBDC07-3649-3259-5059-BC0ABD92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054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Conclusions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59D9BE-56DC-14EF-565F-278BD13CB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610"/>
            <a:ext cx="10515600" cy="31910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2400" dirty="0" err="1"/>
              <a:t>Formal</a:t>
            </a:r>
            <a:r>
              <a:rPr lang="it-IT" sz="2400" dirty="0"/>
              <a:t> </a:t>
            </a:r>
            <a:r>
              <a:rPr lang="it-IT" sz="2400" dirty="0" err="1"/>
              <a:t>spatio-temporal</a:t>
            </a:r>
            <a:r>
              <a:rPr lang="it-IT" sz="2400" dirty="0"/>
              <a:t> </a:t>
            </a:r>
            <a:r>
              <a:rPr lang="it-IT" sz="2400" dirty="0" err="1"/>
              <a:t>logic</a:t>
            </a:r>
            <a:r>
              <a:rPr lang="it-IT" sz="2400" dirty="0"/>
              <a:t> can guide policy </a:t>
            </a:r>
            <a:r>
              <a:rPr lang="it-IT" sz="2400" dirty="0" err="1"/>
              <a:t>optimization</a:t>
            </a:r>
            <a:r>
              <a:rPr lang="it-IT" sz="2400" dirty="0"/>
              <a:t> in </a:t>
            </a:r>
            <a:r>
              <a:rPr lang="it-IT" sz="2400" dirty="0" err="1"/>
              <a:t>collective</a:t>
            </a:r>
            <a:r>
              <a:rPr lang="it-IT" sz="2400" dirty="0"/>
              <a:t> </a:t>
            </a:r>
            <a:r>
              <a:rPr lang="it-IT" sz="2400" dirty="0" err="1"/>
              <a:t>adaptive</a:t>
            </a:r>
            <a:r>
              <a:rPr lang="it-IT" sz="2400" dirty="0"/>
              <a:t> systems</a:t>
            </a:r>
          </a:p>
          <a:p>
            <a:pPr>
              <a:lnSpc>
                <a:spcPct val="100000"/>
              </a:lnSpc>
            </a:pPr>
            <a:endParaRPr lang="it-IT" sz="1000" dirty="0"/>
          </a:p>
          <a:p>
            <a:pPr>
              <a:lnSpc>
                <a:spcPct val="100000"/>
              </a:lnSpc>
            </a:pPr>
            <a:r>
              <a:rPr lang="it-IT" sz="2400" dirty="0"/>
              <a:t>STREL </a:t>
            </a:r>
            <a:r>
              <a:rPr lang="it-IT" sz="2400" dirty="0" err="1"/>
              <a:t>provides</a:t>
            </a:r>
            <a:r>
              <a:rPr lang="it-IT" sz="2400" dirty="0"/>
              <a:t> a </a:t>
            </a:r>
            <a:r>
              <a:rPr lang="it-IT" sz="2400" dirty="0" err="1"/>
              <a:t>natural</a:t>
            </a:r>
            <a:r>
              <a:rPr lang="it-IT" sz="2400" dirty="0"/>
              <a:t> way to </a:t>
            </a:r>
            <a:r>
              <a:rPr lang="it-IT" sz="2400" dirty="0" err="1"/>
              <a:t>encode</a:t>
            </a:r>
            <a:r>
              <a:rPr lang="it-IT" sz="2400" dirty="0"/>
              <a:t> mission, </a:t>
            </a:r>
            <a:r>
              <a:rPr lang="it-IT" sz="2400" dirty="0" err="1"/>
              <a:t>safety</a:t>
            </a:r>
            <a:r>
              <a:rPr lang="it-IT" sz="2400" dirty="0"/>
              <a:t>, and </a:t>
            </a:r>
            <a:r>
              <a:rPr lang="it-IT" sz="2400" dirty="0" err="1"/>
              <a:t>resource</a:t>
            </a:r>
            <a:r>
              <a:rPr lang="it-IT" sz="2400" dirty="0"/>
              <a:t> </a:t>
            </a:r>
            <a:r>
              <a:rPr lang="it-IT" sz="2400" dirty="0" err="1"/>
              <a:t>constraints</a:t>
            </a:r>
            <a:endParaRPr lang="it-IT" sz="2400" dirty="0"/>
          </a:p>
          <a:p>
            <a:pPr>
              <a:lnSpc>
                <a:spcPct val="100000"/>
              </a:lnSpc>
            </a:pPr>
            <a:endParaRPr lang="it-IT" sz="1000" dirty="0"/>
          </a:p>
          <a:p>
            <a:pPr>
              <a:lnSpc>
                <a:spcPct val="100000"/>
              </a:lnSpc>
            </a:pPr>
            <a:r>
              <a:rPr lang="it-IT" sz="2400" dirty="0" err="1"/>
              <a:t>Differentiable</a:t>
            </a:r>
            <a:r>
              <a:rPr lang="it-IT" sz="2400" dirty="0"/>
              <a:t> </a:t>
            </a:r>
            <a:r>
              <a:rPr lang="it-IT" sz="2400" dirty="0" err="1"/>
              <a:t>robustness</a:t>
            </a:r>
            <a:r>
              <a:rPr lang="it-IT" sz="2400" dirty="0"/>
              <a:t> makes </a:t>
            </a:r>
            <a:r>
              <a:rPr lang="it-IT" sz="2400" dirty="0" err="1"/>
              <a:t>these</a:t>
            </a:r>
            <a:r>
              <a:rPr lang="it-IT" sz="2400" dirty="0"/>
              <a:t> </a:t>
            </a:r>
            <a:r>
              <a:rPr lang="it-IT" sz="2400" dirty="0" err="1"/>
              <a:t>specifications</a:t>
            </a:r>
            <a:r>
              <a:rPr lang="it-IT" sz="2400" dirty="0"/>
              <a:t> </a:t>
            </a:r>
            <a:r>
              <a:rPr lang="it-IT" sz="2400" dirty="0" err="1"/>
              <a:t>usable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a learning </a:t>
            </a:r>
            <a:r>
              <a:rPr lang="it-IT" sz="2400" dirty="0" err="1"/>
              <a:t>objective</a:t>
            </a:r>
            <a:endParaRPr lang="it-IT" sz="2400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2E6DE72-2FFD-0A2E-1520-FC11BDFC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236E-225F-044F-B1E3-9A091673EA6D}" type="slidenum">
              <a:rPr lang="it-IT" smtClean="0"/>
              <a:t>22</a:t>
            </a:fld>
            <a:endParaRPr lang="it-IT"/>
          </a:p>
        </p:txBody>
      </p:sp>
      <p:pic>
        <p:nvPicPr>
          <p:cNvPr id="5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97CF45DE-49AD-9510-6312-694BEE0D2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54D735C-ADC7-EDB0-AA53-117E772D6C72}"/>
              </a:ext>
            </a:extLst>
          </p:cNvPr>
          <p:cNvSpPr txBox="1"/>
          <p:nvPr/>
        </p:nvSpPr>
        <p:spPr>
          <a:xfrm>
            <a:off x="1620312" y="5029651"/>
            <a:ext cx="836188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sz="2400" b="1" dirty="0"/>
              <a:t>Future works: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 err="1"/>
              <a:t>Extending</a:t>
            </a:r>
            <a:r>
              <a:rPr lang="it-IT" sz="2400" dirty="0"/>
              <a:t> the framework to </a:t>
            </a:r>
            <a:r>
              <a:rPr lang="it-IT" sz="2400" dirty="0" err="1"/>
              <a:t>larger</a:t>
            </a:r>
            <a:r>
              <a:rPr lang="it-IT" sz="2400" dirty="0"/>
              <a:t> </a:t>
            </a:r>
            <a:r>
              <a:rPr lang="it-IT" sz="2400" dirty="0" err="1"/>
              <a:t>graphs</a:t>
            </a:r>
            <a:endParaRPr lang="it-IT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Scaling to a </a:t>
            </a:r>
            <a:r>
              <a:rPr lang="it-IT" sz="2400" dirty="0" err="1"/>
              <a:t>higher</a:t>
            </a:r>
            <a:r>
              <a:rPr lang="it-IT" sz="2400" dirty="0"/>
              <a:t> </a:t>
            </a:r>
            <a:r>
              <a:rPr lang="it-IT" sz="2400" dirty="0" err="1"/>
              <a:t>number</a:t>
            </a:r>
            <a:r>
              <a:rPr lang="it-IT" sz="2400" dirty="0"/>
              <a:t> of agents</a:t>
            </a:r>
          </a:p>
        </p:txBody>
      </p:sp>
    </p:spTree>
    <p:extLst>
      <p:ext uri="{BB962C8B-B14F-4D97-AF65-F5344CB8AC3E}">
        <p14:creationId xmlns:p14="http://schemas.microsoft.com/office/powerpoint/2010/main" val="896170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36E2F-44C4-0715-3DBA-B65F61177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FBE6C7-68FC-FA75-2482-1300AA7F9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6595"/>
            <a:ext cx="10515600" cy="3104810"/>
          </a:xfrm>
        </p:spPr>
        <p:txBody>
          <a:bodyPr>
            <a:normAutofit/>
          </a:bodyPr>
          <a:lstStyle/>
          <a:p>
            <a:pPr algn="ctr"/>
            <a:r>
              <a:rPr lang="it-IT" sz="8000" b="1" dirty="0"/>
              <a:t>thank </a:t>
            </a:r>
            <a:r>
              <a:rPr lang="it-IT" sz="8000" b="1" dirty="0" err="1"/>
              <a:t>you</a:t>
            </a:r>
            <a:r>
              <a:rPr lang="it-IT" sz="8000" b="1" dirty="0"/>
              <a:t> for </a:t>
            </a:r>
            <a:r>
              <a:rPr lang="it-IT" sz="8000" b="1" dirty="0" err="1"/>
              <a:t>your</a:t>
            </a:r>
            <a:r>
              <a:rPr lang="it-IT" sz="8000" b="1" dirty="0"/>
              <a:t> </a:t>
            </a:r>
            <a:r>
              <a:rPr lang="it-IT" sz="8000" b="1" dirty="0" err="1"/>
              <a:t>attention</a:t>
            </a:r>
            <a:r>
              <a:rPr lang="it-IT" sz="8000" b="1" dirty="0"/>
              <a:t>!</a:t>
            </a:r>
            <a:endParaRPr lang="it-IT" b="1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67B8750-32C9-6438-9AEE-BF13B959A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BE2AC-A0B9-1E48-A8E9-1F968DE047C5}" type="slidenum">
              <a:rPr lang="it-IT" smtClean="0"/>
              <a:t>23</a:t>
            </a:fld>
            <a:endParaRPr lang="it-IT"/>
          </a:p>
        </p:txBody>
      </p:sp>
      <p:pic>
        <p:nvPicPr>
          <p:cNvPr id="5" name="Picture 4" descr="Università degli Studi di Trieste - UniTs - La Nuova Copisteria">
            <a:extLst>
              <a:ext uri="{FF2B5EF4-FFF2-40B4-BE49-F238E27FC236}">
                <a16:creationId xmlns:a16="http://schemas.microsoft.com/office/drawing/2014/main" id="{03BE6993-32D2-63ED-399B-B0B5CB36B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" y="5706760"/>
            <a:ext cx="1098189" cy="98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684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4008</TotalTime>
  <Words>1587</Words>
  <Application>Microsoft Macintosh PowerPoint</Application>
  <PresentationFormat>Widescreen</PresentationFormat>
  <Paragraphs>242</Paragraphs>
  <Slides>24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Avenir Next LT Pro</vt:lpstr>
      <vt:lpstr>Avenir Next LT Pro Light</vt:lpstr>
      <vt:lpstr>Cambria Math</vt:lpstr>
      <vt:lpstr>Helvetica</vt:lpstr>
      <vt:lpstr>Tema di Office</vt:lpstr>
      <vt:lpstr>Spatio-Temporal Logic Guided Optimization for Collective Adaptive Systems </vt:lpstr>
      <vt:lpstr>Introduction</vt:lpstr>
      <vt:lpstr>Spatio-Temporal Reach and Escape Logic STREL</vt:lpstr>
      <vt:lpstr>Syntax</vt:lpstr>
      <vt:lpstr>A Differentiable STREL Library</vt:lpstr>
      <vt:lpstr>Policy Optimization</vt:lpstr>
      <vt:lpstr>Reward Shaping</vt:lpstr>
      <vt:lpstr>Experimentals Setup</vt:lpstr>
      <vt:lpstr>Experimentals Setup</vt:lpstr>
      <vt:lpstr>Experimentals Setup</vt:lpstr>
      <vt:lpstr>Experimentals Setup</vt:lpstr>
      <vt:lpstr>Experimentals Setup</vt:lpstr>
      <vt:lpstr>Initialization</vt:lpstr>
      <vt:lpstr>Initialization</vt:lpstr>
      <vt:lpstr>Battery Recharge - No Collision </vt:lpstr>
      <vt:lpstr>Battery Recharge - No Collision </vt:lpstr>
      <vt:lpstr>Battery Recharge - No Collision </vt:lpstr>
      <vt:lpstr>Battery Recharge - No Collision </vt:lpstr>
      <vt:lpstr>Battery Recharge - No Collision </vt:lpstr>
      <vt:lpstr>Battery Recharge - No Collision </vt:lpstr>
      <vt:lpstr>Battery Recharge - No Collision </vt:lpstr>
      <vt:lpstr>Battery Recharge - No Collision </vt:lpstr>
      <vt:lpstr>Conclusions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Girolamo Paladino</dc:creator>
  <cp:lastModifiedBy>Girolamo Paladino</cp:lastModifiedBy>
  <cp:revision>3</cp:revision>
  <dcterms:created xsi:type="dcterms:W3CDTF">2026-03-24T14:00:05Z</dcterms:created>
  <dcterms:modified xsi:type="dcterms:W3CDTF">2026-03-27T08:48:51Z</dcterms:modified>
</cp:coreProperties>
</file>